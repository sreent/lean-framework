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mework" id="{4526a04f-3f95-fcbb-4a60-d342ef4cdb0b}">
          <p14:sldIdLst>
            <p14:sldId id="256"/>
          </p14:sldIdLst>
        </p14:section>
        <p14:section name="Ownership and rules" id="{4c8bb24e-b5b4-bdc6-05d5-9cc7279e8381}">
          <p14:sldIdLst>
            <p14:sldId id="257"/>
            <p14:sldId id="258"/>
          </p14:sldIdLst>
        </p14:section>
        <p14:section name="Operating model" id="{2a933a04-ee3b-cb9d-f87a-7d1a0d43611d}">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on one page. Read the middle band left to right: the problem, the guiding policy, and the target setup that answers it. The top row gives the purpose and scope; the bottom row gives the rules, the controls we never switch off, and how we’ll measure progress. Orange marks what’s still to fill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sits with the business. Each GPDO owns their domain in every system, SAP or not, and delegates each part to an attribute owner, who sets its checks and settings in the app and decides what the app can’t, or names delegates to. Delegates are optional, and one small pool can serve several parts, so a domain needs few people; settings, exceptions, mass changes and access stay with the owner. A sensitive change is one to a field the owner lists as sensitive, such as bank details. The platform owner and the data team run the technology and decide nothing about data content. Internal controls reviews emergency access and any change made without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22 rules in seven groups; the rulebook has each rule, and the controls catalogue says how each one is enforced. The left side fixes incorrect and inconsistent data; the right side manages trade secret, fraud, privacy and audit risk. Five rules apply to all data from the start, SAP or not (R-01, R-02, R-16, R-21 and R-22); the rest apply to SAP now, and to other systems as their GPDO brings them in. Each domain profile holds its own checks and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does what, grouped coarsely; the operating model holds the full table. GPDOs set up the domain and stay accountable for all of it. Attribute owners set their part’s settings and control access, with the data team running the access reviews. They can hand the daily cases, including the monthly sample of automatic approvals, to delegates. The data team builds and runs the platform under the platform owner. Decisions happen in the app, prompted by agents, so the only standing meeting is the owner review. The first three measures show how little people have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systems enforce the rules: the unified app is the front door, SAP is the system of record, and the data platform checks what’s stored and finds changes without a request. Five agents do the coordination and routine work, each for a named audience. They start by proposing for a person to decide, and the change reconciler only reports. Later, an agent can make routine changes itself where the attribute owner allows, never to sensitive fields, and every change can be reversed. Agents never approve, confirm, delete or grant access, and the platform owner approves the AI models they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06359" y="330190"/>
            <a:ext cx="8889980" cy="363108"/>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Legend: brackets"/>
          <p:cNvSpPr/>
          <p:nvPr/>
        </p:nvSpPr>
        <p:spPr>
          <a:xfrm>
            <a:off x="10664464" y="419710"/>
            <a:ext cx="658002" cy="184160"/>
          </a:xfrm>
          <a:prstGeom prst="rect">
            <a:avLst/>
          </a:prstGeom>
          <a:noFill/>
          <a:ln/>
        </p:spPr>
        <p:txBody>
          <a:bodyPr wrap="square" lIns="0" tIns="0" rIns="0" bIns="0" rtlCol="0" anchor="ctr"/>
          <a:lstStyle/>
          <a:p>
            <a:pPr indent="0" marL="0">
              <a:buNone/>
            </a:pPr>
            <a:r>
              <a:rPr lang="en-US" sz="1200" dirty="0">
                <a:solidFill>
                  <a:schemeClr val="accent2"/>
                </a:solidFill>
              </a:rPr>
              <a:t>[brackets]</a:t>
            </a:r>
            <a:endParaRPr lang="en-US" sz="1200" dirty="0"/>
          </a:p>
        </p:txBody>
      </p:sp>
      <p:sp>
        <p:nvSpPr>
          <p:cNvPr id="4" name="Legend: to fill in"/>
          <p:cNvSpPr/>
          <p:nvPr/>
        </p:nvSpPr>
        <p:spPr>
          <a:xfrm>
            <a:off x="11318626" y="419710"/>
            <a:ext cx="526694" cy="184160"/>
          </a:xfrm>
          <a:prstGeom prst="rect">
            <a:avLst/>
          </a:prstGeom>
          <a:noFill/>
          <a:ln/>
        </p:spPr>
        <p:txBody>
          <a:bodyPr wrap="square" lIns="0" tIns="0" rIns="0" bIns="0" rtlCol="0" anchor="ctr"/>
          <a:lstStyle/>
          <a:p>
            <a:pPr indent="0" marL="0">
              <a:buNone/>
            </a:pPr>
            <a:r>
              <a:rPr lang="en-US" sz="1200" dirty="0">
                <a:solidFill>
                  <a:schemeClr val="accent5"/>
                </a:solidFill>
              </a:rPr>
              <a:t>to fill in</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06359" y="330190"/>
            <a:ext cx="8889980" cy="363108"/>
          </a:xfrm>
          <a:prstGeom prst="rect">
            <a:avLst/>
          </a:prstGeom>
          <a:noFill/>
          <a:ln/>
        </p:spPr>
        <p:txBody>
          <a:bodyPr wrap="square" lIns="0" tIns="0" rIns="0" bIns="0" rtlCol="0" anchor="ctr"/>
          <a:lstStyle/>
          <a:p>
            <a:pPr algn="l" indent="0" marL="0">
              <a:buNone/>
            </a:pPr>
            <a:r>
              <a:rPr lang="en-US" sz="2600" b="1" dirty="0">
                <a:solidFill>
                  <a:schemeClr val="tx2"/>
                </a:solidFill>
              </a:rPr>
              <a:t>LEAN Data Governance</a:t>
            </a:r>
            <a:endParaRPr lang="en-US" sz="2600" dirty="0"/>
          </a:p>
        </p:txBody>
      </p:sp>
      <p:sp>
        <p:nvSpPr>
          <p:cNvPr id="3" name="Card 2"/>
          <p:cNvSpPr/>
          <p:nvPr/>
        </p:nvSpPr>
        <p:spPr>
          <a:xfrm>
            <a:off x="3932652" y="387340"/>
            <a:ext cx="711769" cy="248808"/>
          </a:xfrm>
          <a:prstGeom prst="roundRect">
            <a:avLst>
              <a:gd name="adj" fmla="val 50007"/>
            </a:avLst>
          </a:prstGeom>
          <a:solidFill>
            <a:schemeClr val="accent2"/>
          </a:solidFill>
          <a:ln/>
        </p:spPr>
      </p:sp>
      <p:sp>
        <p:nvSpPr>
          <p:cNvPr id="4" name="Text: DRAFT"/>
          <p:cNvSpPr txBox="1"/>
          <p:nvPr/>
        </p:nvSpPr>
        <p:spPr>
          <a:xfrm>
            <a:off x="4046952" y="412760"/>
            <a:ext cx="483169" cy="198059"/>
          </a:xfrm>
          <a:prstGeom prst="rect">
            <a:avLst/>
          </a:prstGeom>
          <a:noFill/>
          <a:ln/>
        </p:spPr>
        <p:txBody>
          <a:bodyPr wrap="square" lIns="0" tIns="0" rIns="0" bIns="0" rtlCol="0" anchor="ctr"/>
          <a:lstStyle/>
          <a:p>
            <a:pPr algn="ctr" indent="0" marL="0">
              <a:lnSpc>
                <a:spcPts val="1560"/>
              </a:lnSpc>
              <a:buNone/>
            </a:pPr>
            <a:r>
              <a:rPr lang="en-US" sz="1200" b="1" spc="100" kern="0" dirty="0">
                <a:solidFill>
                  <a:schemeClr val="bg1"/>
                </a:solidFill>
              </a:rPr>
              <a:t>DRAFT</a:t>
            </a:r>
            <a:endParaRPr lang="en-US" sz="1200" dirty="0"/>
          </a:p>
        </p:txBody>
      </p:sp>
      <p:sp>
        <p:nvSpPr>
          <p:cNvPr id="5" name="Card 5"/>
          <p:cNvSpPr/>
          <p:nvPr/>
        </p:nvSpPr>
        <p:spPr>
          <a:xfrm>
            <a:off x="406359" y="807598"/>
            <a:ext cx="6881409" cy="1330635"/>
          </a:xfrm>
          <a:prstGeom prst="roundRect">
            <a:avLst>
              <a:gd name="adj" fmla="val 7635"/>
            </a:avLst>
          </a:prstGeom>
          <a:solidFill>
            <a:schemeClr val="tx2"/>
          </a:solidFill>
          <a:ln/>
        </p:spPr>
      </p:sp>
      <p:sp>
        <p:nvSpPr>
          <p:cNvPr id="6" name="Text: PURPOSE"/>
          <p:cNvSpPr txBox="1"/>
          <p:nvPr/>
        </p:nvSpPr>
        <p:spPr>
          <a:xfrm>
            <a:off x="634959" y="1095817"/>
            <a:ext cx="6462339"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4"/>
                </a:solidFill>
              </a:rPr>
              <a:t>PURPOSE</a:t>
            </a:r>
            <a:endParaRPr lang="en-US" sz="1200" dirty="0"/>
          </a:p>
        </p:txBody>
      </p:sp>
      <p:sp>
        <p:nvSpPr>
          <p:cNvPr id="7" name="Text: Correct, consistent master data: owned b"/>
          <p:cNvSpPr txBox="1"/>
          <p:nvPr/>
        </p:nvSpPr>
        <p:spPr>
          <a:xfrm>
            <a:off x="634959" y="1354866"/>
            <a:ext cx="6462339" cy="495330"/>
          </a:xfrm>
          <a:prstGeom prst="rect">
            <a:avLst/>
          </a:prstGeom>
          <a:noFill/>
          <a:ln/>
        </p:spPr>
        <p:txBody>
          <a:bodyPr wrap="square" lIns="0" tIns="0" rIns="0" bIns="0" rtlCol="0" anchor="t"/>
          <a:lstStyle/>
          <a:p>
            <a:pPr algn="l" indent="0" marL="0">
              <a:lnSpc>
                <a:spcPts val="1950"/>
              </a:lnSpc>
              <a:buNone/>
            </a:pPr>
            <a:r>
              <a:rPr lang="en-US" sz="1500" dirty="0">
                <a:solidFill>
                  <a:schemeClr val="bg1"/>
                </a:solidFill>
                <a:latin typeface="+mj-lt" pitchFamily="34" charset="0"/>
                <a:ea typeface="+mj-lt" pitchFamily="34" charset="-122"/>
                <a:cs typeface="+mj-lt" pitchFamily="34" charset="-120"/>
              </a:rPr>
              <a:t>Correct, consistent master data: owned by the business, enforced by technology, with AI agents doing the routine work.</a:t>
            </a:r>
            <a:endParaRPr lang="en-US" sz="1500" dirty="0"/>
          </a:p>
        </p:txBody>
      </p:sp>
      <p:sp>
        <p:nvSpPr>
          <p:cNvPr id="8" name="Card 8"/>
          <p:cNvSpPr/>
          <p:nvPr/>
        </p:nvSpPr>
        <p:spPr>
          <a:xfrm>
            <a:off x="7427488" y="807598"/>
            <a:ext cx="4358122" cy="1330635"/>
          </a:xfrm>
          <a:prstGeom prst="roundRect">
            <a:avLst>
              <a:gd name="adj" fmla="val 7635"/>
            </a:avLst>
          </a:prstGeom>
          <a:solidFill>
            <a:schemeClr val="bg1"/>
          </a:solidFill>
          <a:ln w="6350">
            <a:solidFill>
              <a:schemeClr val="accent6"/>
            </a:solidFill>
            <a:prstDash val="solid"/>
          </a:ln>
        </p:spPr>
      </p:sp>
      <p:sp>
        <p:nvSpPr>
          <p:cNvPr id="9" name="Text: SCOPE"/>
          <p:cNvSpPr txBox="1"/>
          <p:nvPr/>
        </p:nvSpPr>
        <p:spPr>
          <a:xfrm>
            <a:off x="7598938" y="928299"/>
            <a:ext cx="405326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SCOPE</a:t>
            </a:r>
            <a:endParaRPr lang="en-US" sz="1200" dirty="0"/>
          </a:p>
        </p:txBody>
      </p:sp>
      <p:sp>
        <p:nvSpPr>
          <p:cNvPr id="10" name="Text: Four domains, one per GPDO (global proce"/>
          <p:cNvSpPr txBox="1"/>
          <p:nvPr/>
        </p:nvSpPr>
        <p:spPr>
          <a:xfrm>
            <a:off x="7598938" y="1149218"/>
            <a:ext cx="4053261"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Four domains,</a:t>
            </a:r>
            <a:pPr algn="l" indent="0" marL="0">
              <a:lnSpc>
                <a:spcPts val="1560"/>
              </a:lnSpc>
              <a:buNone/>
            </a:pPr>
            <a:r>
              <a:rPr lang="en-US" sz="1200" dirty="0">
                <a:solidFill>
                  <a:schemeClr val="tx1"/>
                </a:solidFill>
              </a:rPr>
              <a:t> one per GPDO (global process and data owner): Commercial, Manufacturing, Finance and Procurement.</a:t>
            </a:r>
            <a:endParaRPr lang="en-US" sz="1200" dirty="0"/>
          </a:p>
        </p:txBody>
      </p:sp>
      <p:sp>
        <p:nvSpPr>
          <p:cNvPr id="11" name="Text: SAP master data: governed in full."/>
          <p:cNvSpPr txBox="1"/>
          <p:nvPr/>
        </p:nvSpPr>
        <p:spPr>
          <a:xfrm>
            <a:off x="7598938" y="1583466"/>
            <a:ext cx="4053261" cy="198059"/>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SAP master data:</a:t>
            </a:r>
            <a:pPr algn="l" indent="0" marL="0">
              <a:lnSpc>
                <a:spcPts val="1560"/>
              </a:lnSpc>
              <a:buNone/>
            </a:pPr>
            <a:r>
              <a:rPr lang="en-US" sz="1200" dirty="0">
                <a:solidFill>
                  <a:schemeClr val="tx1"/>
                </a:solidFill>
              </a:rPr>
              <a:t> governed in full.</a:t>
            </a:r>
            <a:endParaRPr lang="en-US" sz="1200" dirty="0"/>
          </a:p>
        </p:txBody>
      </p:sp>
      <p:sp>
        <p:nvSpPr>
          <p:cNvPr id="12" name="Text: Non-SAP and confidential data: owned and"/>
          <p:cNvSpPr txBox="1"/>
          <p:nvPr/>
        </p:nvSpPr>
        <p:spPr>
          <a:xfrm>
            <a:off x="7598938" y="1819565"/>
            <a:ext cx="4053261" cy="198059"/>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Non-SAP and confidential data:</a:t>
            </a:r>
            <a:pPr algn="l" indent="0" marL="0">
              <a:lnSpc>
                <a:spcPts val="1560"/>
              </a:lnSpc>
              <a:buNone/>
            </a:pPr>
            <a:r>
              <a:rPr lang="en-US" sz="1200" dirty="0">
                <a:solidFill>
                  <a:schemeClr val="tx1"/>
                </a:solidFill>
              </a:rPr>
              <a:t> owned and protected now.</a:t>
            </a:r>
            <a:endParaRPr lang="en-US" sz="1200" dirty="0"/>
          </a:p>
        </p:txBody>
      </p:sp>
      <p:sp>
        <p:nvSpPr>
          <p:cNvPr id="13" name="Text: THE PROBLEM"/>
          <p:cNvSpPr txBox="1"/>
          <p:nvPr/>
        </p:nvSpPr>
        <p:spPr>
          <a:xfrm>
            <a:off x="406359" y="2252533"/>
            <a:ext cx="346713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THE PROBLEM</a:t>
            </a:r>
            <a:endParaRPr lang="en-US" sz="1200" dirty="0"/>
          </a:p>
        </p:txBody>
      </p:sp>
      <p:sp>
        <p:nvSpPr>
          <p:cNvPr id="14" name="Card 14"/>
          <p:cNvSpPr/>
          <p:nvPr/>
        </p:nvSpPr>
        <p:spPr>
          <a:xfrm>
            <a:off x="406359" y="2498964"/>
            <a:ext cx="3429000" cy="561167"/>
          </a:xfrm>
          <a:prstGeom prst="roundRect">
            <a:avLst>
              <a:gd name="adj" fmla="val 13579"/>
            </a:avLst>
          </a:prstGeom>
          <a:solidFill>
            <a:schemeClr val="bg1"/>
          </a:solidFill>
          <a:ln w="6350">
            <a:solidFill>
              <a:schemeClr val="accent6"/>
            </a:solidFill>
            <a:prstDash val="solid"/>
          </a:ln>
        </p:spPr>
      </p:sp>
      <p:sp>
        <p:nvSpPr>
          <p:cNvPr id="15" name="Text: Incorrect: wrong or missing values break"/>
          <p:cNvSpPr txBox="1"/>
          <p:nvPr/>
        </p:nvSpPr>
        <p:spPr>
          <a:xfrm>
            <a:off x="539770" y="2581443"/>
            <a:ext cx="3200400"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Incorrect:</a:t>
            </a:r>
            <a:pPr algn="l" indent="0" marL="0">
              <a:lnSpc>
                <a:spcPts val="1560"/>
              </a:lnSpc>
              <a:buNone/>
            </a:pPr>
            <a:r>
              <a:rPr lang="en-US" sz="1200" dirty="0">
                <a:solidFill>
                  <a:schemeClr val="tx1"/>
                </a:solidFill>
              </a:rPr>
              <a:t> wrong or missing values break transactions and reports.</a:t>
            </a:r>
            <a:endParaRPr lang="en-US" sz="1200" dirty="0"/>
          </a:p>
        </p:txBody>
      </p:sp>
      <p:sp>
        <p:nvSpPr>
          <p:cNvPr id="16" name="Card 16"/>
          <p:cNvSpPr/>
          <p:nvPr/>
        </p:nvSpPr>
        <p:spPr>
          <a:xfrm>
            <a:off x="406359" y="3123590"/>
            <a:ext cx="3429000" cy="561167"/>
          </a:xfrm>
          <a:prstGeom prst="roundRect">
            <a:avLst>
              <a:gd name="adj" fmla="val 13579"/>
            </a:avLst>
          </a:prstGeom>
          <a:solidFill>
            <a:schemeClr val="bg1"/>
          </a:solidFill>
          <a:ln w="6350">
            <a:solidFill>
              <a:schemeClr val="accent6"/>
            </a:solidFill>
            <a:prstDash val="solid"/>
          </a:ln>
        </p:spPr>
      </p:sp>
      <p:sp>
        <p:nvSpPr>
          <p:cNvPr id="17" name="Text: Inconsistent: duplicates, clashing conve"/>
          <p:cNvSpPr txBox="1"/>
          <p:nvPr/>
        </p:nvSpPr>
        <p:spPr>
          <a:xfrm>
            <a:off x="539770" y="3206161"/>
            <a:ext cx="3200400"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Inconsistent:</a:t>
            </a:r>
            <a:pPr algn="l" indent="0" marL="0">
              <a:lnSpc>
                <a:spcPts val="1560"/>
              </a:lnSpc>
              <a:buNone/>
            </a:pPr>
            <a:r>
              <a:rPr lang="en-US" sz="1200" dirty="0">
                <a:solidFill>
                  <a:schemeClr val="tx1"/>
                </a:solidFill>
              </a:rPr>
              <a:t> duplicates, clashing conventions, systems that disagree.</a:t>
            </a:r>
            <a:endParaRPr lang="en-US" sz="1200" dirty="0"/>
          </a:p>
        </p:txBody>
      </p:sp>
      <p:sp>
        <p:nvSpPr>
          <p:cNvPr id="18" name="Card 18"/>
          <p:cNvSpPr/>
          <p:nvPr/>
        </p:nvSpPr>
        <p:spPr>
          <a:xfrm>
            <a:off x="406359" y="3748308"/>
            <a:ext cx="3429000" cy="561167"/>
          </a:xfrm>
          <a:prstGeom prst="roundRect">
            <a:avLst>
              <a:gd name="adj" fmla="val 13579"/>
            </a:avLst>
          </a:prstGeom>
          <a:solidFill>
            <a:schemeClr val="bg1"/>
          </a:solidFill>
          <a:ln w="6350">
            <a:solidFill>
              <a:schemeClr val="accent6"/>
            </a:solidFill>
            <a:prstDash val="solid"/>
          </a:ln>
        </p:spPr>
      </p:sp>
      <p:sp>
        <p:nvSpPr>
          <p:cNvPr id="19" name="Text: Risks: trade secrets, payment fraud, pri"/>
          <p:cNvSpPr txBox="1"/>
          <p:nvPr/>
        </p:nvSpPr>
        <p:spPr>
          <a:xfrm>
            <a:off x="539770" y="3830879"/>
            <a:ext cx="3200400"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Risks:</a:t>
            </a:r>
            <a:pPr algn="l" indent="0" marL="0">
              <a:lnSpc>
                <a:spcPts val="1560"/>
              </a:lnSpc>
              <a:buNone/>
            </a:pPr>
            <a:r>
              <a:rPr lang="en-US" sz="1200" dirty="0">
                <a:solidFill>
                  <a:schemeClr val="tx1"/>
                </a:solidFill>
              </a:rPr>
              <a:t> trade secrets, payment fraud, privacy and audit.</a:t>
            </a:r>
            <a:endParaRPr lang="en-US" sz="1200" dirty="0"/>
          </a:p>
        </p:txBody>
      </p:sp>
      <p:sp>
        <p:nvSpPr>
          <p:cNvPr id="20" name="Arrow 20"/>
          <p:cNvSpPr/>
          <p:nvPr/>
        </p:nvSpPr>
        <p:spPr>
          <a:xfrm>
            <a:off x="3898910" y="2730764"/>
            <a:ext cx="254020" cy="152430"/>
          </a:xfrm>
          <a:prstGeom prst="rightArrow">
            <a:avLst/>
          </a:prstGeom>
          <a:solidFill>
            <a:schemeClr val="accent1"/>
          </a:solidFill>
          <a:ln/>
        </p:spPr>
      </p:sp>
      <p:sp>
        <p:nvSpPr>
          <p:cNvPr id="21" name="Arrow 21"/>
          <p:cNvSpPr/>
          <p:nvPr/>
        </p:nvSpPr>
        <p:spPr>
          <a:xfrm>
            <a:off x="3898910" y="3331799"/>
            <a:ext cx="254020" cy="152430"/>
          </a:xfrm>
          <a:prstGeom prst="rightArrow">
            <a:avLst/>
          </a:prstGeom>
          <a:solidFill>
            <a:schemeClr val="accent1"/>
          </a:solidFill>
          <a:ln/>
        </p:spPr>
      </p:sp>
      <p:sp>
        <p:nvSpPr>
          <p:cNvPr id="22" name="Arrow 22"/>
          <p:cNvSpPr/>
          <p:nvPr/>
        </p:nvSpPr>
        <p:spPr>
          <a:xfrm>
            <a:off x="3898910" y="3932743"/>
            <a:ext cx="254020" cy="152430"/>
          </a:xfrm>
          <a:prstGeom prst="rightArrow">
            <a:avLst/>
          </a:prstGeom>
          <a:solidFill>
            <a:schemeClr val="accent1"/>
          </a:solidFill>
          <a:ln/>
        </p:spPr>
      </p:sp>
      <p:sp>
        <p:nvSpPr>
          <p:cNvPr id="23" name="Text: GUIDING POLICY"/>
          <p:cNvSpPr txBox="1"/>
          <p:nvPr/>
        </p:nvSpPr>
        <p:spPr>
          <a:xfrm>
            <a:off x="4216390" y="2252533"/>
            <a:ext cx="359414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GUIDING POLICY</a:t>
            </a:r>
            <a:endParaRPr lang="en-US" sz="1200" dirty="0"/>
          </a:p>
        </p:txBody>
      </p:sp>
      <p:sp>
        <p:nvSpPr>
          <p:cNvPr id="24" name="Card 24"/>
          <p:cNvSpPr/>
          <p:nvPr/>
        </p:nvSpPr>
        <p:spPr>
          <a:xfrm>
            <a:off x="4216390" y="2498964"/>
            <a:ext cx="3556010" cy="1810512"/>
          </a:xfrm>
          <a:prstGeom prst="roundRect">
            <a:avLst>
              <a:gd name="adj" fmla="val 5612"/>
            </a:avLst>
          </a:prstGeom>
          <a:solidFill>
            <a:schemeClr val="accent1"/>
          </a:solidFill>
          <a:ln/>
        </p:spPr>
      </p:sp>
      <p:sp>
        <p:nvSpPr>
          <p:cNvPr id="25" name="Text: Technology runs governance; people decid"/>
          <p:cNvSpPr txBox="1"/>
          <p:nvPr/>
        </p:nvSpPr>
        <p:spPr>
          <a:xfrm>
            <a:off x="4419570" y="2681112"/>
            <a:ext cx="3187690" cy="476220"/>
          </a:xfrm>
          <a:prstGeom prst="rect">
            <a:avLst/>
          </a:prstGeom>
          <a:noFill/>
          <a:ln/>
        </p:spPr>
        <p:txBody>
          <a:bodyPr wrap="square" lIns="0" tIns="0" rIns="0" bIns="0" rtlCol="0" anchor="t"/>
          <a:lstStyle/>
          <a:p>
            <a:pPr algn="l" indent="0" marL="0">
              <a:lnSpc>
                <a:spcPts val="1875"/>
              </a:lnSpc>
              <a:buNone/>
            </a:pPr>
            <a:r>
              <a:rPr lang="en-US" sz="1500" b="1" dirty="0">
                <a:solidFill>
                  <a:schemeClr val="bg1"/>
                </a:solidFill>
                <a:latin typeface="+mj-lt" pitchFamily="34" charset="0"/>
                <a:ea typeface="+mj-lt" pitchFamily="34" charset="-122"/>
                <a:cs typeface="+mj-lt" pitchFamily="34" charset="-120"/>
              </a:rPr>
              <a:t>Technology runs governance; people decide.</a:t>
            </a:r>
            <a:endParaRPr lang="en-US" sz="1500" dirty="0"/>
          </a:p>
        </p:txBody>
      </p:sp>
      <p:sp>
        <p:nvSpPr>
          <p:cNvPr id="26" name="Text: Lightweight policies, Embedded controls,"/>
          <p:cNvSpPr txBox="1"/>
          <p:nvPr/>
        </p:nvSpPr>
        <p:spPr>
          <a:xfrm>
            <a:off x="4419570" y="3246211"/>
            <a:ext cx="3187690" cy="396118"/>
          </a:xfrm>
          <a:prstGeom prst="rect">
            <a:avLst/>
          </a:prstGeom>
          <a:noFill/>
          <a:ln/>
        </p:spPr>
        <p:txBody>
          <a:bodyPr wrap="square" lIns="0" tIns="0" rIns="0" bIns="0" rtlCol="0" anchor="t"/>
          <a:lstStyle/>
          <a:p>
            <a:pPr algn="l" indent="0" marL="0">
              <a:lnSpc>
                <a:spcPts val="1560"/>
              </a:lnSpc>
              <a:buNone/>
            </a:pPr>
            <a:r>
              <a:rPr lang="en-US" sz="1200" b="1" dirty="0">
                <a:solidFill>
                  <a:schemeClr val="accent3"/>
                </a:solidFill>
              </a:rPr>
              <a:t>L</a:t>
            </a:r>
            <a:pPr algn="l" indent="0" marL="0">
              <a:lnSpc>
                <a:spcPts val="1560"/>
              </a:lnSpc>
              <a:buNone/>
            </a:pPr>
            <a:r>
              <a:rPr lang="en-US" sz="1200" dirty="0">
                <a:solidFill>
                  <a:schemeClr val="accent3"/>
                </a:solidFill>
              </a:rPr>
              <a:t>ightweight policies, </a:t>
            </a:r>
            <a:pPr algn="l" indent="0" marL="0">
              <a:lnSpc>
                <a:spcPts val="1560"/>
              </a:lnSpc>
              <a:buNone/>
            </a:pPr>
            <a:r>
              <a:rPr lang="en-US" sz="1200" b="1" dirty="0">
                <a:solidFill>
                  <a:schemeClr val="accent3"/>
                </a:solidFill>
              </a:rPr>
              <a:t>E</a:t>
            </a:r>
            <a:pPr algn="l" indent="0" marL="0">
              <a:lnSpc>
                <a:spcPts val="1560"/>
              </a:lnSpc>
              <a:buNone/>
            </a:pPr>
            <a:r>
              <a:rPr lang="en-US" sz="1200" dirty="0">
                <a:solidFill>
                  <a:schemeClr val="accent3"/>
                </a:solidFill>
              </a:rPr>
              <a:t>mbedded controls, </a:t>
            </a:r>
            <a:pPr algn="l" indent="0" marL="0">
              <a:lnSpc>
                <a:spcPts val="1560"/>
              </a:lnSpc>
              <a:buNone/>
            </a:pPr>
            <a:r>
              <a:rPr lang="en-US" sz="1200" b="1" dirty="0">
                <a:solidFill>
                  <a:schemeClr val="accent3"/>
                </a:solidFill>
              </a:rPr>
              <a:t>A</a:t>
            </a:r>
            <a:pPr algn="l" indent="0" marL="0">
              <a:lnSpc>
                <a:spcPts val="1560"/>
              </a:lnSpc>
              <a:buNone/>
            </a:pPr>
            <a:r>
              <a:rPr lang="en-US" sz="1200" dirty="0">
                <a:solidFill>
                  <a:schemeClr val="accent3"/>
                </a:solidFill>
              </a:rPr>
              <a:t>gent-operated work and </a:t>
            </a:r>
            <a:pPr algn="l" indent="0" marL="0">
              <a:lnSpc>
                <a:spcPts val="1560"/>
              </a:lnSpc>
              <a:buNone/>
            </a:pPr>
            <a:r>
              <a:rPr lang="en-US" sz="1200" b="1" dirty="0">
                <a:solidFill>
                  <a:schemeClr val="accent3"/>
                </a:solidFill>
              </a:rPr>
              <a:t>N</a:t>
            </a:r>
            <a:pPr algn="l" indent="0" marL="0">
              <a:lnSpc>
                <a:spcPts val="1560"/>
              </a:lnSpc>
              <a:buNone/>
            </a:pPr>
            <a:r>
              <a:rPr lang="en-US" sz="1200" dirty="0">
                <a:solidFill>
                  <a:schemeClr val="accent3"/>
                </a:solidFill>
              </a:rPr>
              <a:t>amed ownership.</a:t>
            </a:r>
            <a:endParaRPr lang="en-US" sz="1200" dirty="0"/>
          </a:p>
        </p:txBody>
      </p:sp>
      <p:sp>
        <p:nvSpPr>
          <p:cNvPr id="27" name="Text: The app decides by default; people decid"/>
          <p:cNvSpPr txBox="1"/>
          <p:nvPr/>
        </p:nvSpPr>
        <p:spPr>
          <a:xfrm>
            <a:off x="4419570" y="3731209"/>
            <a:ext cx="3187690" cy="396118"/>
          </a:xfrm>
          <a:prstGeom prst="rect">
            <a:avLst/>
          </a:prstGeom>
          <a:noFill/>
          <a:ln/>
        </p:spPr>
        <p:txBody>
          <a:bodyPr wrap="square" lIns="0" tIns="0" rIns="0" bIns="0" rtlCol="0" anchor="t"/>
          <a:lstStyle/>
          <a:p>
            <a:pPr algn="l" indent="0" marL="0">
              <a:lnSpc>
                <a:spcPts val="1560"/>
              </a:lnSpc>
              <a:buNone/>
            </a:pPr>
            <a:r>
              <a:rPr lang="en-US" sz="1200" dirty="0">
                <a:solidFill>
                  <a:schemeClr val="accent3"/>
                </a:solidFill>
              </a:rPr>
              <a:t>The app decides by default; people decide only what needs judgement or a fraud check.</a:t>
            </a:r>
            <a:endParaRPr lang="en-US" sz="1200" dirty="0"/>
          </a:p>
        </p:txBody>
      </p:sp>
      <p:sp>
        <p:nvSpPr>
          <p:cNvPr id="28" name="Arrow 28"/>
          <p:cNvSpPr/>
          <p:nvPr/>
        </p:nvSpPr>
        <p:spPr>
          <a:xfrm>
            <a:off x="7835859" y="2730764"/>
            <a:ext cx="254020" cy="152430"/>
          </a:xfrm>
          <a:prstGeom prst="rightArrow">
            <a:avLst/>
          </a:prstGeom>
          <a:solidFill>
            <a:schemeClr val="accent1"/>
          </a:solidFill>
          <a:ln/>
        </p:spPr>
      </p:sp>
      <p:sp>
        <p:nvSpPr>
          <p:cNvPr id="29" name="Arrow 29"/>
          <p:cNvSpPr/>
          <p:nvPr/>
        </p:nvSpPr>
        <p:spPr>
          <a:xfrm>
            <a:off x="7835859" y="3331799"/>
            <a:ext cx="254020" cy="152430"/>
          </a:xfrm>
          <a:prstGeom prst="rightArrow">
            <a:avLst/>
          </a:prstGeom>
          <a:solidFill>
            <a:schemeClr val="accent1"/>
          </a:solidFill>
          <a:ln/>
        </p:spPr>
      </p:sp>
      <p:sp>
        <p:nvSpPr>
          <p:cNvPr id="30" name="Arrow 30"/>
          <p:cNvSpPr/>
          <p:nvPr/>
        </p:nvSpPr>
        <p:spPr>
          <a:xfrm>
            <a:off x="7835859" y="3932743"/>
            <a:ext cx="254020" cy="152430"/>
          </a:xfrm>
          <a:prstGeom prst="rightArrow">
            <a:avLst/>
          </a:prstGeom>
          <a:solidFill>
            <a:schemeClr val="accent1"/>
          </a:solidFill>
          <a:ln/>
        </p:spPr>
      </p:sp>
      <p:sp>
        <p:nvSpPr>
          <p:cNvPr id="31" name="Text: THE TARGET SETUP"/>
          <p:cNvSpPr txBox="1"/>
          <p:nvPr/>
        </p:nvSpPr>
        <p:spPr>
          <a:xfrm>
            <a:off x="8153430" y="2252533"/>
            <a:ext cx="367031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THE TARGET SETUP</a:t>
            </a:r>
            <a:endParaRPr lang="en-US" sz="1200" dirty="0"/>
          </a:p>
        </p:txBody>
      </p:sp>
      <p:sp>
        <p:nvSpPr>
          <p:cNvPr id="32" name="Card edge 32"/>
          <p:cNvSpPr/>
          <p:nvPr/>
        </p:nvSpPr>
        <p:spPr>
          <a:xfrm>
            <a:off x="8153430" y="2498964"/>
            <a:ext cx="3632180" cy="561167"/>
          </a:xfrm>
          <a:prstGeom prst="roundRect">
            <a:avLst>
              <a:gd name="adj" fmla="val 13579"/>
            </a:avLst>
          </a:prstGeom>
          <a:solidFill>
            <a:schemeClr val="accent1"/>
          </a:solidFill>
          <a:ln/>
        </p:spPr>
      </p:sp>
      <p:sp>
        <p:nvSpPr>
          <p:cNvPr id="33" name="Card 32"/>
          <p:cNvSpPr/>
          <p:nvPr/>
        </p:nvSpPr>
        <p:spPr>
          <a:xfrm>
            <a:off x="8191470" y="2498964"/>
            <a:ext cx="3594141" cy="561167"/>
          </a:xfrm>
          <a:prstGeom prst="roundRect">
            <a:avLst>
              <a:gd name="adj" fmla="val 13579"/>
            </a:avLst>
          </a:prstGeom>
          <a:solidFill>
            <a:schemeClr val="accent3"/>
          </a:solidFill>
          <a:ln/>
        </p:spPr>
      </p:sp>
      <p:sp>
        <p:nvSpPr>
          <p:cNvPr id="34" name="Text: 1. Own. GPDOs delegate parts to attribut"/>
          <p:cNvSpPr txBox="1"/>
          <p:nvPr/>
        </p:nvSpPr>
        <p:spPr>
          <a:xfrm>
            <a:off x="8318480" y="2581443"/>
            <a:ext cx="3378159"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1. Own.</a:t>
            </a:r>
            <a:pPr algn="l" indent="0" marL="0">
              <a:lnSpc>
                <a:spcPts val="1560"/>
              </a:lnSpc>
              <a:buNone/>
            </a:pPr>
            <a:r>
              <a:rPr lang="en-US" sz="1200" dirty="0">
                <a:solidFill>
                  <a:schemeClr val="tx1"/>
                </a:solidFill>
              </a:rPr>
              <a:t> GPDOs delegate parts to attribute owners, who set the checks and what the app may approve.</a:t>
            </a:r>
            <a:endParaRPr lang="en-US" sz="1200" dirty="0"/>
          </a:p>
        </p:txBody>
      </p:sp>
      <p:sp>
        <p:nvSpPr>
          <p:cNvPr id="35" name="Card edge 34"/>
          <p:cNvSpPr/>
          <p:nvPr/>
        </p:nvSpPr>
        <p:spPr>
          <a:xfrm>
            <a:off x="8153430" y="3123590"/>
            <a:ext cx="3632180" cy="561167"/>
          </a:xfrm>
          <a:prstGeom prst="roundRect">
            <a:avLst>
              <a:gd name="adj" fmla="val 13579"/>
            </a:avLst>
          </a:prstGeom>
          <a:solidFill>
            <a:schemeClr val="accent1"/>
          </a:solidFill>
          <a:ln/>
        </p:spPr>
      </p:sp>
      <p:sp>
        <p:nvSpPr>
          <p:cNvPr id="36" name="Card 34"/>
          <p:cNvSpPr/>
          <p:nvPr/>
        </p:nvSpPr>
        <p:spPr>
          <a:xfrm>
            <a:off x="8191470" y="3123590"/>
            <a:ext cx="3594141" cy="561167"/>
          </a:xfrm>
          <a:prstGeom prst="roundRect">
            <a:avLst>
              <a:gd name="adj" fmla="val 13579"/>
            </a:avLst>
          </a:prstGeom>
          <a:solidFill>
            <a:schemeClr val="accent3"/>
          </a:solidFill>
          <a:ln/>
        </p:spPr>
      </p:sp>
      <p:sp>
        <p:nvSpPr>
          <p:cNvPr id="37" name="Text: 2. Enforce. The app approves what owners"/>
          <p:cNvSpPr txBox="1"/>
          <p:nvPr/>
        </p:nvSpPr>
        <p:spPr>
          <a:xfrm>
            <a:off x="8318480" y="3206161"/>
            <a:ext cx="3378159"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2. Enforce.</a:t>
            </a:r>
            <a:pPr algn="l" indent="0" marL="0">
              <a:lnSpc>
                <a:spcPts val="1560"/>
              </a:lnSpc>
              <a:buNone/>
            </a:pPr>
            <a:r>
              <a:rPr lang="en-US" sz="1200" dirty="0">
                <a:solidFill>
                  <a:schemeClr val="tx1"/>
                </a:solidFill>
              </a:rPr>
              <a:t> The app approves what owners allow. Owners approve the rest, prepared by agents.</a:t>
            </a:r>
            <a:endParaRPr lang="en-US" sz="1200" dirty="0"/>
          </a:p>
        </p:txBody>
      </p:sp>
      <p:sp>
        <p:nvSpPr>
          <p:cNvPr id="38" name="Card edge 36"/>
          <p:cNvSpPr/>
          <p:nvPr/>
        </p:nvSpPr>
        <p:spPr>
          <a:xfrm>
            <a:off x="8153430" y="3748308"/>
            <a:ext cx="3632180" cy="561167"/>
          </a:xfrm>
          <a:prstGeom prst="roundRect">
            <a:avLst>
              <a:gd name="adj" fmla="val 13579"/>
            </a:avLst>
          </a:prstGeom>
          <a:solidFill>
            <a:schemeClr val="accent1"/>
          </a:solidFill>
          <a:ln/>
        </p:spPr>
      </p:sp>
      <p:sp>
        <p:nvSpPr>
          <p:cNvPr id="39" name="Card 36"/>
          <p:cNvSpPr/>
          <p:nvPr/>
        </p:nvSpPr>
        <p:spPr>
          <a:xfrm>
            <a:off x="8191470" y="3748308"/>
            <a:ext cx="3594141" cy="561167"/>
          </a:xfrm>
          <a:prstGeom prst="roundRect">
            <a:avLst>
              <a:gd name="adj" fmla="val 13579"/>
            </a:avLst>
          </a:prstGeom>
          <a:solidFill>
            <a:schemeClr val="accent3"/>
          </a:solidFill>
          <a:ln/>
        </p:spPr>
      </p:sp>
      <p:sp>
        <p:nvSpPr>
          <p:cNvPr id="40" name="Text: 3. Run and assure. The data team runs it"/>
          <p:cNvSpPr txBox="1"/>
          <p:nvPr/>
        </p:nvSpPr>
        <p:spPr>
          <a:xfrm>
            <a:off x="8318480" y="3830879"/>
            <a:ext cx="3378159"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3. Run and assure.</a:t>
            </a:r>
            <a:pPr algn="l" indent="0" marL="0">
              <a:lnSpc>
                <a:spcPts val="1560"/>
              </a:lnSpc>
              <a:buNone/>
            </a:pPr>
            <a:r>
              <a:rPr lang="en-US" sz="1200" dirty="0">
                <a:solidFill>
                  <a:schemeClr val="tx1"/>
                </a:solidFill>
              </a:rPr>
              <a:t> The data team runs it; internal controls reviews changes made without a request.</a:t>
            </a:r>
            <a:endParaRPr lang="en-US" sz="1200" dirty="0"/>
          </a:p>
        </p:txBody>
      </p:sp>
      <p:sp>
        <p:nvSpPr>
          <p:cNvPr id="41" name="Card 38"/>
          <p:cNvSpPr/>
          <p:nvPr/>
        </p:nvSpPr>
        <p:spPr>
          <a:xfrm>
            <a:off x="406359" y="4423776"/>
            <a:ext cx="3699845" cy="1848551"/>
          </a:xfrm>
          <a:prstGeom prst="roundRect">
            <a:avLst>
              <a:gd name="adj" fmla="val 5496"/>
            </a:avLst>
          </a:prstGeom>
          <a:solidFill>
            <a:schemeClr val="bg1"/>
          </a:solidFill>
          <a:ln w="6350">
            <a:solidFill>
              <a:schemeClr val="accent6"/>
            </a:solidFill>
            <a:prstDash val="solid"/>
          </a:ln>
        </p:spPr>
      </p:sp>
      <p:sp>
        <p:nvSpPr>
          <p:cNvPr id="42" name="Text: 22 RULES"/>
          <p:cNvSpPr txBox="1"/>
          <p:nvPr/>
        </p:nvSpPr>
        <p:spPr>
          <a:xfrm>
            <a:off x="577809" y="4544385"/>
            <a:ext cx="3395076"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22 RULES</a:t>
            </a:r>
            <a:endParaRPr lang="en-US" sz="1200" dirty="0"/>
          </a:p>
        </p:txBody>
      </p:sp>
      <p:sp>
        <p:nvSpPr>
          <p:cNvPr id="43" name="Text: Each says what must be true, and why 12 "/>
          <p:cNvSpPr txBox="1"/>
          <p:nvPr/>
        </p:nvSpPr>
        <p:spPr>
          <a:xfrm>
            <a:off x="577809" y="4765396"/>
            <a:ext cx="3395076" cy="990204"/>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Each says what must be true, and why</a:t>
            </a:r>
            <a:endParaRPr lang="en-US" sz="1200" dirty="0"/>
          </a:p>
          <a:p>
            <a:pPr algn="l" marL="165100" indent="-165100">
              <a:lnSpc>
                <a:spcPts val="1560"/>
              </a:lnSpc>
              <a:buSzPct val="100000"/>
              <a:buChar char="•"/>
            </a:pPr>
            <a:r>
              <a:rPr lang="en-US" sz="1200" dirty="0">
                <a:solidFill>
                  <a:schemeClr val="tx1"/>
                </a:solidFill>
              </a:rPr>
              <a:t>12 fix incorrect and inconsistent data</a:t>
            </a:r>
            <a:endParaRPr lang="en-US" sz="1200" dirty="0"/>
          </a:p>
          <a:p>
            <a:pPr algn="l" marL="165100" indent="-165100">
              <a:lnSpc>
                <a:spcPts val="1560"/>
              </a:lnSpc>
              <a:buSzPct val="100000"/>
              <a:buChar char="•"/>
            </a:pPr>
            <a:r>
              <a:rPr lang="en-US" sz="1200" dirty="0">
                <a:solidFill>
                  <a:schemeClr val="tx1"/>
                </a:solidFill>
              </a:rPr>
              <a:t>10 manage trade secret, fraud, privacy and audit risk</a:t>
            </a:r>
            <a:endParaRPr lang="en-US" sz="1200" dirty="0"/>
          </a:p>
          <a:p>
            <a:pPr algn="l" marL="165100" indent="-165100">
              <a:lnSpc>
                <a:spcPts val="1560"/>
              </a:lnSpc>
              <a:buSzPct val="100000"/>
              <a:buChar char="•"/>
            </a:pPr>
            <a:r>
              <a:rPr lang="en-US" sz="1200" dirty="0">
                <a:solidFill>
                  <a:schemeClr val="tx1"/>
                </a:solidFill>
              </a:rPr>
              <a:t>5 of them apply everywhere from the start</a:t>
            </a:r>
            <a:endParaRPr lang="en-US" sz="1200" dirty="0"/>
          </a:p>
        </p:txBody>
      </p:sp>
      <p:sp>
        <p:nvSpPr>
          <p:cNvPr id="44" name="Card 41"/>
          <p:cNvSpPr/>
          <p:nvPr/>
        </p:nvSpPr>
        <p:spPr>
          <a:xfrm>
            <a:off x="4245925" y="4423776"/>
            <a:ext cx="3699937" cy="1848551"/>
          </a:xfrm>
          <a:prstGeom prst="roundRect">
            <a:avLst>
              <a:gd name="adj" fmla="val 5496"/>
            </a:avLst>
          </a:prstGeom>
          <a:solidFill>
            <a:schemeClr val="bg1"/>
          </a:solidFill>
          <a:ln w="6350">
            <a:solidFill>
              <a:schemeClr val="accent6"/>
            </a:solidFill>
            <a:prstDash val="solid"/>
          </a:ln>
        </p:spPr>
      </p:sp>
      <p:sp>
        <p:nvSpPr>
          <p:cNvPr id="45" name="Text: NEVER SWITCHED OFF"/>
          <p:cNvSpPr txBox="1"/>
          <p:nvPr/>
        </p:nvSpPr>
        <p:spPr>
          <a:xfrm>
            <a:off x="4417375" y="4544385"/>
            <a:ext cx="3395167"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NEVER SWITCHED OFF</a:t>
            </a:r>
            <a:endParaRPr lang="en-US" sz="1200" dirty="0"/>
          </a:p>
        </p:txBody>
      </p:sp>
      <p:sp>
        <p:nvSpPr>
          <p:cNvPr id="46" name="Text: Someone else confirms sensitive changes "/>
          <p:cNvSpPr txBox="1"/>
          <p:nvPr/>
        </p:nvSpPr>
        <p:spPr>
          <a:xfrm>
            <a:off x="4417375" y="4765396"/>
            <a:ext cx="3395167" cy="1386322"/>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Someone else confirms sensitive changes</a:t>
            </a:r>
            <a:endParaRPr lang="en-US" sz="1200" dirty="0"/>
          </a:p>
          <a:p>
            <a:pPr algn="l" marL="165100" indent="-165100">
              <a:lnSpc>
                <a:spcPts val="1560"/>
              </a:lnSpc>
              <a:buSzPct val="100000"/>
              <a:buChar char="•"/>
            </a:pPr>
            <a:r>
              <a:rPr lang="en-US" sz="1200" dirty="0">
                <a:solidFill>
                  <a:schemeClr val="tx1"/>
                </a:solidFill>
              </a:rPr>
              <a:t>Nobody approves their own request or exception</a:t>
            </a:r>
            <a:endParaRPr lang="en-US" sz="1200" dirty="0"/>
          </a:p>
          <a:p>
            <a:pPr algn="l" marL="165100" indent="-165100">
              <a:lnSpc>
                <a:spcPts val="1560"/>
              </a:lnSpc>
              <a:buSzPct val="100000"/>
              <a:buChar char="•"/>
            </a:pPr>
            <a:r>
              <a:rPr lang="en-US" sz="1200" dirty="0">
                <a:solidFill>
                  <a:schemeClr val="tx1"/>
                </a:solidFill>
              </a:rPr>
              <a:t>Payment data kept apart from paying</a:t>
            </a:r>
            <a:endParaRPr lang="en-US" sz="1200" dirty="0"/>
          </a:p>
          <a:p>
            <a:pPr algn="l" marL="165100" indent="-165100">
              <a:lnSpc>
                <a:spcPts val="1560"/>
              </a:lnSpc>
              <a:buSzPct val="100000"/>
              <a:buChar char="•"/>
            </a:pPr>
            <a:r>
              <a:rPr lang="en-US" sz="1200" dirty="0">
                <a:solidFill>
                  <a:schemeClr val="tx1"/>
                </a:solidFill>
              </a:rPr>
              <a:t>Bank details verified with the supplier</a:t>
            </a:r>
            <a:endParaRPr lang="en-US" sz="1200" dirty="0"/>
          </a:p>
          <a:p>
            <a:pPr algn="l" marL="165100" indent="-165100">
              <a:lnSpc>
                <a:spcPts val="1560"/>
              </a:lnSpc>
              <a:buSzPct val="100000"/>
              <a:buChar char="•"/>
            </a:pPr>
            <a:r>
              <a:rPr lang="en-US" sz="1200" dirty="0">
                <a:solidFill>
                  <a:schemeClr val="tx1"/>
                </a:solidFill>
              </a:rPr>
              <a:t>Agents never approve, confirm or delete</a:t>
            </a:r>
            <a:endParaRPr lang="en-US" sz="1200" dirty="0"/>
          </a:p>
          <a:p>
            <a:pPr algn="l" marL="165100" indent="-165100">
              <a:lnSpc>
                <a:spcPts val="1560"/>
              </a:lnSpc>
              <a:buSzPct val="100000"/>
              <a:buChar char="•"/>
            </a:pPr>
            <a:r>
              <a:rPr lang="en-US" sz="1200" dirty="0">
                <a:solidFill>
                  <a:schemeClr val="tx1"/>
                </a:solidFill>
              </a:rPr>
              <a:t>Trade secrets stay in AI the organisation controls</a:t>
            </a:r>
            <a:endParaRPr lang="en-US" sz="1200" dirty="0"/>
          </a:p>
          <a:p>
            <a:pPr algn="l" marL="165100" indent="-165100">
              <a:lnSpc>
                <a:spcPts val="1560"/>
              </a:lnSpc>
              <a:buSzPct val="100000"/>
              <a:buChar char="•"/>
            </a:pPr>
            <a:r>
              <a:rPr lang="en-US" sz="1200" dirty="0">
                <a:solidFill>
                  <a:schemeClr val="tx1"/>
                </a:solidFill>
              </a:rPr>
              <a:t>Every change traces to an approved request</a:t>
            </a:r>
            <a:endParaRPr lang="en-US" sz="1200" dirty="0"/>
          </a:p>
        </p:txBody>
      </p:sp>
      <p:sp>
        <p:nvSpPr>
          <p:cNvPr id="47" name="Card 44"/>
          <p:cNvSpPr/>
          <p:nvPr/>
        </p:nvSpPr>
        <p:spPr>
          <a:xfrm>
            <a:off x="8085673" y="4423776"/>
            <a:ext cx="3699937" cy="1848551"/>
          </a:xfrm>
          <a:prstGeom prst="roundRect">
            <a:avLst>
              <a:gd name="adj" fmla="val 5496"/>
            </a:avLst>
          </a:prstGeom>
          <a:solidFill>
            <a:schemeClr val="bg1"/>
          </a:solidFill>
          <a:ln w="6350">
            <a:solidFill>
              <a:schemeClr val="accent6"/>
            </a:solidFill>
            <a:prstDash val="solid"/>
          </a:ln>
        </p:spPr>
      </p:sp>
      <p:sp>
        <p:nvSpPr>
          <p:cNvPr id="48" name="Text: MEASURES"/>
          <p:cNvSpPr txBox="1"/>
          <p:nvPr/>
        </p:nvSpPr>
        <p:spPr>
          <a:xfrm>
            <a:off x="8257123" y="4544385"/>
            <a:ext cx="3395167"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MEASURES</a:t>
            </a:r>
            <a:endParaRPr lang="en-US" sz="1200" dirty="0"/>
          </a:p>
        </p:txBody>
      </p:sp>
      <p:sp>
        <p:nvSpPr>
          <p:cNvPr id="49" name="Text: Share of requests the app approves alone"/>
          <p:cNvSpPr txBox="1"/>
          <p:nvPr/>
        </p:nvSpPr>
        <p:spPr>
          <a:xfrm>
            <a:off x="8257123" y="4765396"/>
            <a:ext cx="3395167" cy="990204"/>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Share of requests the app approves alone</a:t>
            </a:r>
            <a:endParaRPr lang="en-US" sz="1200" dirty="0"/>
          </a:p>
          <a:p>
            <a:pPr algn="l" marL="165100" indent="-165100">
              <a:lnSpc>
                <a:spcPts val="1560"/>
              </a:lnSpc>
              <a:buSzPct val="100000"/>
              <a:buChar char="•"/>
            </a:pPr>
            <a:r>
              <a:rPr lang="en-US" sz="1200" dirty="0">
                <a:solidFill>
                  <a:schemeClr val="tx1"/>
                </a:solidFill>
              </a:rPr>
              <a:t>People’s decisions, and how long they take</a:t>
            </a:r>
            <a:endParaRPr lang="en-US" sz="1200" dirty="0"/>
          </a:p>
          <a:p>
            <a:pPr algn="l" marL="165100" indent="-165100">
              <a:lnSpc>
                <a:spcPts val="1560"/>
              </a:lnSpc>
              <a:buSzPct val="100000"/>
              <a:buChar char="•"/>
            </a:pPr>
            <a:r>
              <a:rPr lang="en-US" sz="1200" dirty="0">
                <a:solidFill>
                  <a:schemeClr val="tx1"/>
                </a:solidFill>
              </a:rPr>
              <a:t>Records passing their checks</a:t>
            </a:r>
            <a:endParaRPr lang="en-US" sz="1200" dirty="0"/>
          </a:p>
          <a:p>
            <a:pPr algn="l" marL="165100" indent="-165100">
              <a:lnSpc>
                <a:spcPts val="1560"/>
              </a:lnSpc>
              <a:buSzPct val="100000"/>
              <a:buChar char="•"/>
            </a:pPr>
            <a:r>
              <a:rPr lang="en-US" sz="1200" dirty="0">
                <a:solidFill>
                  <a:schemeClr val="tx1"/>
                </a:solidFill>
              </a:rPr>
              <a:t>Duplicates and system differences</a:t>
            </a:r>
            <a:endParaRPr lang="en-US" sz="1200" dirty="0"/>
          </a:p>
          <a:p>
            <a:pPr algn="l" marL="165100" indent="-165100">
              <a:lnSpc>
                <a:spcPts val="1560"/>
              </a:lnSpc>
              <a:buSzPct val="100000"/>
              <a:buChar char="•"/>
            </a:pPr>
            <a:r>
              <a:rPr lang="en-US" sz="1200" dirty="0">
                <a:solidFill>
                  <a:schemeClr val="tx1"/>
                </a:solidFill>
              </a:rPr>
              <a:t>Changes without a request</a:t>
            </a:r>
            <a:endParaRPr lang="en-US" sz="1200" dirty="0"/>
          </a:p>
        </p:txBody>
      </p:sp>
      <p:sp>
        <p:nvSpPr>
          <p:cNvPr id="50" name="Text: Targets: [to set]"/>
          <p:cNvSpPr txBox="1"/>
          <p:nvPr/>
        </p:nvSpPr>
        <p:spPr>
          <a:xfrm>
            <a:off x="8257123" y="5793638"/>
            <a:ext cx="3395167"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Targets: </a:t>
            </a:r>
            <a:pPr algn="l" indent="0" marL="0">
              <a:lnSpc>
                <a:spcPts val="1560"/>
              </a:lnSpc>
              <a:buNone/>
            </a:pPr>
            <a:r>
              <a:rPr lang="en-US" sz="1200" dirty="0">
                <a:solidFill>
                  <a:schemeClr val="accent2"/>
                </a:solidFill>
              </a:rPr>
              <a:t>[to set]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06359" y="330190"/>
            <a:ext cx="8889980" cy="363108"/>
          </a:xfrm>
          <a:prstGeom prst="rect">
            <a:avLst/>
          </a:prstGeom>
          <a:noFill/>
          <a:ln/>
        </p:spPr>
        <p:txBody>
          <a:bodyPr wrap="square" lIns="0" tIns="0" rIns="0" bIns="0" rtlCol="0" anchor="ctr"/>
          <a:lstStyle/>
          <a:p>
            <a:pPr algn="l" indent="0" marL="0">
              <a:buNone/>
            </a:pPr>
            <a:r>
              <a:rPr lang="en-US" sz="2600" b="1" dirty="0">
                <a:solidFill>
                  <a:schemeClr val="tx2"/>
                </a:solidFill>
              </a:rPr>
              <a:t>Who owns and decides</a:t>
            </a:r>
            <a:endParaRPr lang="en-US" sz="2600" dirty="0"/>
          </a:p>
        </p:txBody>
      </p:sp>
      <p:sp>
        <p:nvSpPr>
          <p:cNvPr id="3" name="Card 2"/>
          <p:cNvSpPr/>
          <p:nvPr/>
        </p:nvSpPr>
        <p:spPr>
          <a:xfrm>
            <a:off x="3905220" y="387340"/>
            <a:ext cx="711769" cy="248808"/>
          </a:xfrm>
          <a:prstGeom prst="roundRect">
            <a:avLst>
              <a:gd name="adj" fmla="val 50007"/>
            </a:avLst>
          </a:prstGeom>
          <a:solidFill>
            <a:schemeClr val="accent2"/>
          </a:solidFill>
          <a:ln/>
        </p:spPr>
      </p:sp>
      <p:sp>
        <p:nvSpPr>
          <p:cNvPr id="4" name="Text: DRAFT"/>
          <p:cNvSpPr txBox="1"/>
          <p:nvPr/>
        </p:nvSpPr>
        <p:spPr>
          <a:xfrm>
            <a:off x="4019520" y="412760"/>
            <a:ext cx="483169" cy="198059"/>
          </a:xfrm>
          <a:prstGeom prst="rect">
            <a:avLst/>
          </a:prstGeom>
          <a:noFill/>
          <a:ln/>
        </p:spPr>
        <p:txBody>
          <a:bodyPr wrap="square" lIns="0" tIns="0" rIns="0" bIns="0" rtlCol="0" anchor="ctr"/>
          <a:lstStyle/>
          <a:p>
            <a:pPr algn="ctr" indent="0" marL="0">
              <a:lnSpc>
                <a:spcPts val="1560"/>
              </a:lnSpc>
              <a:buNone/>
            </a:pPr>
            <a:r>
              <a:rPr lang="en-US" sz="1200" b="1" spc="100" kern="0" dirty="0">
                <a:solidFill>
                  <a:schemeClr val="bg1"/>
                </a:solidFill>
              </a:rPr>
              <a:t>DRAFT</a:t>
            </a:r>
            <a:endParaRPr lang="en-US" sz="1200" dirty="0"/>
          </a:p>
        </p:txBody>
      </p:sp>
      <p:sp>
        <p:nvSpPr>
          <p:cNvPr id="5" name="Card 5"/>
          <p:cNvSpPr/>
          <p:nvPr/>
        </p:nvSpPr>
        <p:spPr>
          <a:xfrm>
            <a:off x="406359" y="807598"/>
            <a:ext cx="6881409" cy="1528694"/>
          </a:xfrm>
          <a:prstGeom prst="roundRect">
            <a:avLst>
              <a:gd name="adj" fmla="val 6646"/>
            </a:avLst>
          </a:prstGeom>
          <a:solidFill>
            <a:schemeClr val="tx2"/>
          </a:solidFill>
          <a:ln/>
        </p:spPr>
      </p:sp>
      <p:sp>
        <p:nvSpPr>
          <p:cNvPr id="6" name="Text: PRINCIPLE"/>
          <p:cNvSpPr txBox="1"/>
          <p:nvPr/>
        </p:nvSpPr>
        <p:spPr>
          <a:xfrm>
            <a:off x="634959" y="1194755"/>
            <a:ext cx="6462339"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4"/>
                </a:solidFill>
              </a:rPr>
              <a:t>PRINCIPLE</a:t>
            </a:r>
            <a:endParaRPr lang="en-US" sz="1200" dirty="0"/>
          </a:p>
        </p:txBody>
      </p:sp>
      <p:sp>
        <p:nvSpPr>
          <p:cNvPr id="7" name="Text: Every piece of data has one named owner."/>
          <p:cNvSpPr txBox="1"/>
          <p:nvPr/>
        </p:nvSpPr>
        <p:spPr>
          <a:xfrm>
            <a:off x="634959" y="1453896"/>
            <a:ext cx="6462339" cy="495330"/>
          </a:xfrm>
          <a:prstGeom prst="rect">
            <a:avLst/>
          </a:prstGeom>
          <a:noFill/>
          <a:ln/>
        </p:spPr>
        <p:txBody>
          <a:bodyPr wrap="square" lIns="0" tIns="0" rIns="0" bIns="0" rtlCol="0" anchor="t"/>
          <a:lstStyle/>
          <a:p>
            <a:pPr algn="l" indent="0" marL="0">
              <a:lnSpc>
                <a:spcPts val="1950"/>
              </a:lnSpc>
              <a:buNone/>
            </a:pPr>
            <a:r>
              <a:rPr lang="en-US" sz="1500" dirty="0">
                <a:solidFill>
                  <a:schemeClr val="bg1"/>
                </a:solidFill>
                <a:latin typeface="+mj-lt" pitchFamily="34" charset="0"/>
                <a:ea typeface="+mj-lt" pitchFamily="34" charset="-122"/>
                <a:cs typeface="+mj-lt" pitchFamily="34" charset="-120"/>
              </a:rPr>
              <a:t>Every piece of data has one named owner. A routine change needs one person, the requester; a sensitive change, such as to bank details, needs two.</a:t>
            </a:r>
            <a:endParaRPr lang="en-US" sz="1500" dirty="0"/>
          </a:p>
        </p:txBody>
      </p:sp>
      <p:sp>
        <p:nvSpPr>
          <p:cNvPr id="8" name="Card 8"/>
          <p:cNvSpPr/>
          <p:nvPr/>
        </p:nvSpPr>
        <p:spPr>
          <a:xfrm>
            <a:off x="7427488" y="807598"/>
            <a:ext cx="4358122" cy="1528694"/>
          </a:xfrm>
          <a:prstGeom prst="roundRect">
            <a:avLst>
              <a:gd name="adj" fmla="val 6646"/>
            </a:avLst>
          </a:prstGeom>
          <a:solidFill>
            <a:schemeClr val="bg1"/>
          </a:solidFill>
          <a:ln w="6350">
            <a:solidFill>
              <a:schemeClr val="accent6"/>
            </a:solidFill>
            <a:prstDash val="solid"/>
          </a:ln>
        </p:spPr>
      </p:sp>
      <p:sp>
        <p:nvSpPr>
          <p:cNvPr id="9" name="Text: WHO APPROVES WHAT"/>
          <p:cNvSpPr txBox="1"/>
          <p:nvPr/>
        </p:nvSpPr>
        <p:spPr>
          <a:xfrm>
            <a:off x="7598938" y="928299"/>
            <a:ext cx="405326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WHO APPROVES WHAT</a:t>
            </a:r>
            <a:endParaRPr lang="en-US" sz="1200" dirty="0"/>
          </a:p>
        </p:txBody>
      </p:sp>
      <p:sp>
        <p:nvSpPr>
          <p:cNvPr id="10" name="Text: Charter: the four GPDOs and the platform"/>
          <p:cNvSpPr txBox="1"/>
          <p:nvPr/>
        </p:nvSpPr>
        <p:spPr>
          <a:xfrm>
            <a:off x="7598938" y="1149218"/>
            <a:ext cx="4053261" cy="198059"/>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Charter:</a:t>
            </a:r>
            <a:pPr algn="l" indent="0" marL="0">
              <a:lnSpc>
                <a:spcPts val="1560"/>
              </a:lnSpc>
              <a:buNone/>
            </a:pPr>
            <a:r>
              <a:rPr lang="en-US" sz="1200" dirty="0">
                <a:solidFill>
                  <a:schemeClr val="tx1"/>
                </a:solidFill>
              </a:rPr>
              <a:t> the four GPDOs and the platform owner</a:t>
            </a:r>
            <a:endParaRPr lang="en-US" sz="1200" dirty="0"/>
          </a:p>
        </p:txBody>
      </p:sp>
      <p:sp>
        <p:nvSpPr>
          <p:cNvPr id="11" name="Text: Rulebook, operating model, controls: the"/>
          <p:cNvSpPr txBox="1"/>
          <p:nvPr/>
        </p:nvSpPr>
        <p:spPr>
          <a:xfrm>
            <a:off x="7598938" y="1385407"/>
            <a:ext cx="4053261"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Rulebook, operating model, controls:</a:t>
            </a:r>
            <a:pPr algn="l" indent="0" marL="0">
              <a:lnSpc>
                <a:spcPts val="1560"/>
              </a:lnSpc>
              <a:buNone/>
            </a:pPr>
            <a:r>
              <a:rPr lang="en-US" sz="1200" dirty="0">
                <a:solidFill>
                  <a:schemeClr val="tx1"/>
                </a:solidFill>
              </a:rPr>
              <a:t> the platform owner, after the owner review if they add work</a:t>
            </a:r>
            <a:endParaRPr lang="en-US" sz="1200" dirty="0"/>
          </a:p>
        </p:txBody>
      </p:sp>
      <p:sp>
        <p:nvSpPr>
          <p:cNvPr id="12" name="Text: Domain profiles: the GPDO the breakdown,"/>
          <p:cNvSpPr txBox="1"/>
          <p:nvPr/>
        </p:nvSpPr>
        <p:spPr>
          <a:xfrm>
            <a:off x="7598938" y="1819565"/>
            <a:ext cx="4053261" cy="396118"/>
          </a:xfrm>
          <a:prstGeom prst="rect">
            <a:avLst/>
          </a:prstGeom>
          <a:noFill/>
          <a:ln/>
        </p:spPr>
        <p:txBody>
          <a:bodyPr wrap="square" lIns="0" tIns="0" rIns="0" bIns="0" rtlCol="0" anchor="t"/>
          <a:lstStyle/>
          <a:p>
            <a:pPr algn="l" indent="0" marL="0">
              <a:lnSpc>
                <a:spcPts val="1560"/>
              </a:lnSpc>
              <a:buNone/>
            </a:pPr>
            <a:r>
              <a:rPr lang="en-US" sz="1200" b="1" dirty="0">
                <a:solidFill>
                  <a:schemeClr val="tx1"/>
                </a:solidFill>
              </a:rPr>
              <a:t>Domain profiles:</a:t>
            </a:r>
            <a:pPr algn="l" indent="0" marL="0">
              <a:lnSpc>
                <a:spcPts val="1560"/>
              </a:lnSpc>
              <a:buNone/>
            </a:pPr>
            <a:r>
              <a:rPr lang="en-US" sz="1200" dirty="0">
                <a:solidFill>
                  <a:schemeClr val="tx1"/>
                </a:solidFill>
              </a:rPr>
              <a:t> the GPDO the breakdown, attribute owners their part’s settings</a:t>
            </a:r>
            <a:endParaRPr lang="en-US" sz="1200" dirty="0"/>
          </a:p>
        </p:txBody>
      </p:sp>
      <p:sp>
        <p:nvSpPr>
          <p:cNvPr id="13" name="Text: DATA OWNER: THE GPDO"/>
          <p:cNvSpPr txBox="1"/>
          <p:nvPr/>
        </p:nvSpPr>
        <p:spPr>
          <a:xfrm>
            <a:off x="406359" y="2450592"/>
            <a:ext cx="359414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DATA OWNER: THE GPDO</a:t>
            </a:r>
            <a:endParaRPr lang="en-US" sz="1200" dirty="0"/>
          </a:p>
        </p:txBody>
      </p:sp>
      <p:sp>
        <p:nvSpPr>
          <p:cNvPr id="14" name="Card 14"/>
          <p:cNvSpPr/>
          <p:nvPr/>
        </p:nvSpPr>
        <p:spPr>
          <a:xfrm>
            <a:off x="406359" y="2696931"/>
            <a:ext cx="3556010" cy="1838310"/>
          </a:xfrm>
          <a:prstGeom prst="roundRect">
            <a:avLst>
              <a:gd name="adj" fmla="val 4145"/>
            </a:avLst>
          </a:prstGeom>
          <a:solidFill>
            <a:schemeClr val="bg1"/>
          </a:solidFill>
          <a:ln w="6350">
            <a:solidFill>
              <a:schemeClr val="accent6"/>
            </a:solidFill>
            <a:prstDash val="solid"/>
          </a:ln>
        </p:spPr>
      </p:sp>
      <p:sp>
        <p:nvSpPr>
          <p:cNvPr id="15" name="Text: Accountable for the whole domain, in eve"/>
          <p:cNvSpPr txBox="1"/>
          <p:nvPr/>
        </p:nvSpPr>
        <p:spPr>
          <a:xfrm>
            <a:off x="539770" y="2804922"/>
            <a:ext cx="3327410" cy="1188263"/>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Accountable for the whole domain, in every system</a:t>
            </a:r>
            <a:endParaRPr lang="en-US" sz="1200" dirty="0"/>
          </a:p>
          <a:p>
            <a:pPr algn="l" marL="165100" indent="-165100">
              <a:lnSpc>
                <a:spcPts val="1560"/>
              </a:lnSpc>
              <a:buSzPct val="100000"/>
              <a:buChar char="•"/>
            </a:pPr>
            <a:r>
              <a:rPr lang="en-US" sz="1200" dirty="0">
                <a:solidFill>
                  <a:schemeClr val="tx1"/>
                </a:solidFill>
              </a:rPr>
              <a:t>Approves the breakdown and who owns each part</a:t>
            </a:r>
            <a:endParaRPr lang="en-US" sz="1200" dirty="0"/>
          </a:p>
          <a:p>
            <a:pPr algn="l" marL="165100" indent="-165100">
              <a:lnSpc>
                <a:spcPts val="1560"/>
              </a:lnSpc>
              <a:buSzPct val="100000"/>
              <a:buChar char="•"/>
            </a:pPr>
            <a:r>
              <a:rPr lang="en-US" sz="1200" dirty="0">
                <a:solidFill>
                  <a:schemeClr val="tx1"/>
                </a:solidFill>
              </a:rPr>
              <a:t>Sets the conventions across the domain</a:t>
            </a:r>
            <a:endParaRPr lang="en-US" sz="1200" dirty="0"/>
          </a:p>
          <a:p>
            <a:pPr algn="l" marL="165100" indent="-165100">
              <a:lnSpc>
                <a:spcPts val="1560"/>
              </a:lnSpc>
              <a:buSzPct val="100000"/>
              <a:buChar char="•"/>
            </a:pPr>
            <a:r>
              <a:rPr lang="en-US" sz="1200" dirty="0">
                <a:solidFill>
                  <a:schemeClr val="tx1"/>
                </a:solidFill>
              </a:rPr>
              <a:t>Agrees shared data with the other GPDO</a:t>
            </a:r>
            <a:endParaRPr lang="en-US" sz="1200" dirty="0"/>
          </a:p>
          <a:p>
            <a:pPr algn="l" marL="165100" indent="-165100">
              <a:lnSpc>
                <a:spcPts val="1560"/>
              </a:lnSpc>
              <a:buSzPct val="100000"/>
              <a:buChar char="•"/>
            </a:pPr>
            <a:r>
              <a:rPr lang="en-US" sz="1200" dirty="0">
                <a:solidFill>
                  <a:schemeClr val="tx1"/>
                </a:solidFill>
              </a:rPr>
              <a:t>Decides what’s escalated to them</a:t>
            </a:r>
            <a:endParaRPr lang="en-US" sz="1200" dirty="0"/>
          </a:p>
        </p:txBody>
      </p:sp>
      <p:sp>
        <p:nvSpPr>
          <p:cNvPr id="16" name="Arrow 16"/>
          <p:cNvSpPr/>
          <p:nvPr/>
        </p:nvSpPr>
        <p:spPr>
          <a:xfrm>
            <a:off x="4025920" y="3540557"/>
            <a:ext cx="254020" cy="152430"/>
          </a:xfrm>
          <a:prstGeom prst="rightArrow">
            <a:avLst/>
          </a:prstGeom>
          <a:solidFill>
            <a:schemeClr val="accent1"/>
          </a:solidFill>
          <a:ln/>
        </p:spPr>
      </p:sp>
      <p:sp>
        <p:nvSpPr>
          <p:cNvPr id="17" name="Text: ATTRIBUTE OWNER"/>
          <p:cNvSpPr txBox="1"/>
          <p:nvPr/>
        </p:nvSpPr>
        <p:spPr>
          <a:xfrm>
            <a:off x="4343400" y="2450592"/>
            <a:ext cx="359414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ATTRIBUTE OWNER</a:t>
            </a:r>
            <a:endParaRPr lang="en-US" sz="1200" dirty="0"/>
          </a:p>
        </p:txBody>
      </p:sp>
      <p:sp>
        <p:nvSpPr>
          <p:cNvPr id="18" name="Card 18"/>
          <p:cNvSpPr/>
          <p:nvPr/>
        </p:nvSpPr>
        <p:spPr>
          <a:xfrm>
            <a:off x="4343400" y="2696931"/>
            <a:ext cx="3556010" cy="1838310"/>
          </a:xfrm>
          <a:prstGeom prst="roundRect">
            <a:avLst>
              <a:gd name="adj" fmla="val 4145"/>
            </a:avLst>
          </a:prstGeom>
          <a:solidFill>
            <a:schemeClr val="bg1"/>
          </a:solidFill>
          <a:ln w="6350">
            <a:solidFill>
              <a:schemeClr val="accent6"/>
            </a:solidFill>
            <a:prstDash val="solid"/>
          </a:ln>
        </p:spPr>
      </p:sp>
      <p:sp>
        <p:nvSpPr>
          <p:cNvPr id="19" name="Text: Owns one part: a subdomain, business uni"/>
          <p:cNvSpPr txBox="1"/>
          <p:nvPr/>
        </p:nvSpPr>
        <p:spPr>
          <a:xfrm>
            <a:off x="4476720" y="2804922"/>
            <a:ext cx="3327410" cy="1386322"/>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Owns one part: a subdomain, business unit or group of fields</a:t>
            </a:r>
            <a:endParaRPr lang="en-US" sz="1200" dirty="0"/>
          </a:p>
          <a:p>
            <a:pPr algn="l" marL="165100" indent="-165100">
              <a:lnSpc>
                <a:spcPts val="1560"/>
              </a:lnSpc>
              <a:buSzPct val="100000"/>
              <a:buChar char="•"/>
            </a:pPr>
            <a:r>
              <a:rPr lang="en-US" sz="1200" dirty="0">
                <a:solidFill>
                  <a:schemeClr val="tx1"/>
                </a:solidFill>
              </a:rPr>
              <a:t>Sets its checks, sensitive fields and other settings in the app</a:t>
            </a:r>
            <a:endParaRPr lang="en-US" sz="1200" dirty="0"/>
          </a:p>
          <a:p>
            <a:pPr algn="l" marL="165100" indent="-165100">
              <a:lnSpc>
                <a:spcPts val="1560"/>
              </a:lnSpc>
              <a:buSzPct val="100000"/>
              <a:buChar char="•"/>
            </a:pPr>
            <a:r>
              <a:rPr lang="en-US" sz="1200" dirty="0">
                <a:solidFill>
                  <a:schemeClr val="tx1"/>
                </a:solidFill>
              </a:rPr>
              <a:t>Approves its exceptions and mass changes</a:t>
            </a:r>
            <a:endParaRPr lang="en-US" sz="1200" dirty="0"/>
          </a:p>
          <a:p>
            <a:pPr algn="l" marL="165100" indent="-165100">
              <a:lnSpc>
                <a:spcPts val="1560"/>
              </a:lnSpc>
              <a:buSzPct val="100000"/>
              <a:buChar char="•"/>
            </a:pPr>
            <a:r>
              <a:rPr lang="en-US" sz="1200" dirty="0">
                <a:solidFill>
                  <a:schemeClr val="tx1"/>
                </a:solidFill>
              </a:rPr>
              <a:t>Decides who sees its classified data</a:t>
            </a:r>
            <a:endParaRPr lang="en-US" sz="1200" dirty="0"/>
          </a:p>
          <a:p>
            <a:pPr algn="l" marL="165100" indent="-165100">
              <a:lnSpc>
                <a:spcPts val="1560"/>
              </a:lnSpc>
              <a:buSzPct val="100000"/>
              <a:buChar char="•"/>
            </a:pPr>
            <a:r>
              <a:rPr lang="en-US" sz="1200" dirty="0">
                <a:solidFill>
                  <a:schemeClr val="tx1"/>
                </a:solidFill>
              </a:rPr>
              <a:t>Decides what the app can’t, or names delegates</a:t>
            </a:r>
            <a:endParaRPr lang="en-US" sz="1200" dirty="0"/>
          </a:p>
        </p:txBody>
      </p:sp>
      <p:sp>
        <p:nvSpPr>
          <p:cNvPr id="20" name="Arrow 20"/>
          <p:cNvSpPr/>
          <p:nvPr/>
        </p:nvSpPr>
        <p:spPr>
          <a:xfrm>
            <a:off x="7962870" y="3540557"/>
            <a:ext cx="254020" cy="152430"/>
          </a:xfrm>
          <a:prstGeom prst="rightArrow">
            <a:avLst/>
          </a:prstGeom>
          <a:solidFill>
            <a:schemeClr val="accent1"/>
          </a:solidFill>
          <a:ln/>
        </p:spPr>
      </p:sp>
      <p:sp>
        <p:nvSpPr>
          <p:cNvPr id="21" name="Text: DELEGATES"/>
          <p:cNvSpPr txBox="1"/>
          <p:nvPr/>
        </p:nvSpPr>
        <p:spPr>
          <a:xfrm>
            <a:off x="8280441" y="2450592"/>
            <a:ext cx="354330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DELEGATES</a:t>
            </a:r>
            <a:endParaRPr lang="en-US" sz="1200" dirty="0"/>
          </a:p>
        </p:txBody>
      </p:sp>
      <p:sp>
        <p:nvSpPr>
          <p:cNvPr id="22" name="Card edge 22"/>
          <p:cNvSpPr/>
          <p:nvPr/>
        </p:nvSpPr>
        <p:spPr>
          <a:xfrm>
            <a:off x="8280441" y="2696931"/>
            <a:ext cx="3505170" cy="1838310"/>
          </a:xfrm>
          <a:prstGeom prst="roundRect">
            <a:avLst>
              <a:gd name="adj" fmla="val 4145"/>
            </a:avLst>
          </a:prstGeom>
          <a:solidFill>
            <a:schemeClr val="accent1"/>
          </a:solidFill>
          <a:ln/>
        </p:spPr>
      </p:sp>
      <p:sp>
        <p:nvSpPr>
          <p:cNvPr id="23" name="Card 22"/>
          <p:cNvSpPr/>
          <p:nvPr/>
        </p:nvSpPr>
        <p:spPr>
          <a:xfrm>
            <a:off x="8318480" y="2696931"/>
            <a:ext cx="3467130" cy="1838310"/>
          </a:xfrm>
          <a:prstGeom prst="roundRect">
            <a:avLst>
              <a:gd name="adj" fmla="val 4145"/>
            </a:avLst>
          </a:prstGeom>
          <a:solidFill>
            <a:schemeClr val="accent3"/>
          </a:solidFill>
          <a:ln/>
        </p:spPr>
      </p:sp>
      <p:sp>
        <p:nvSpPr>
          <p:cNvPr id="24" name="Text: Optional: two or more, shared across par"/>
          <p:cNvSpPr txBox="1"/>
          <p:nvPr/>
        </p:nvSpPr>
        <p:spPr>
          <a:xfrm>
            <a:off x="8445490" y="2798521"/>
            <a:ext cx="3251241" cy="990204"/>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Optional: two or more, shared across parts</a:t>
            </a:r>
            <a:endParaRPr lang="en-US" sz="1200" dirty="0"/>
          </a:p>
          <a:p>
            <a:pPr algn="l" marL="165100" indent="-165100">
              <a:lnSpc>
                <a:spcPts val="1560"/>
              </a:lnSpc>
              <a:buSzPct val="100000"/>
              <a:buChar char="•"/>
            </a:pPr>
            <a:r>
              <a:rPr lang="en-US" sz="1200" dirty="0">
                <a:solidFill>
                  <a:schemeClr val="tx1"/>
                </a:solidFill>
              </a:rPr>
              <a:t>Confirm sensitive changes</a:t>
            </a:r>
            <a:endParaRPr lang="en-US" sz="1200" dirty="0"/>
          </a:p>
          <a:p>
            <a:pPr algn="l" marL="165100" indent="-165100">
              <a:lnSpc>
                <a:spcPts val="1560"/>
              </a:lnSpc>
              <a:buSzPct val="100000"/>
              <a:buChar char="•"/>
            </a:pPr>
            <a:r>
              <a:rPr lang="en-US" sz="1200" dirty="0">
                <a:solidFill>
                  <a:schemeClr val="tx1"/>
                </a:solidFill>
              </a:rPr>
              <a:t>Decide likely duplicates</a:t>
            </a:r>
            <a:endParaRPr lang="en-US" sz="1200" dirty="0"/>
          </a:p>
          <a:p>
            <a:pPr algn="l" marL="165100" indent="-165100">
              <a:lnSpc>
                <a:spcPts val="1560"/>
              </a:lnSpc>
              <a:buSzPct val="100000"/>
              <a:buChar char="•"/>
            </a:pPr>
            <a:r>
              <a:rPr lang="en-US" sz="1200" dirty="0">
                <a:solidFill>
                  <a:schemeClr val="tx1"/>
                </a:solidFill>
              </a:rPr>
              <a:t>Approve what the app can’t, and review a monthly sample</a:t>
            </a:r>
            <a:endParaRPr lang="en-US" sz="1200" dirty="0"/>
          </a:p>
        </p:txBody>
      </p:sp>
      <p:sp>
        <p:nvSpPr>
          <p:cNvPr id="25" name="Text: Never settings, exceptions, mass changes"/>
          <p:cNvSpPr txBox="1"/>
          <p:nvPr/>
        </p:nvSpPr>
        <p:spPr>
          <a:xfrm>
            <a:off x="8445490" y="3839566"/>
            <a:ext cx="3251241" cy="594086"/>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Never settings, exceptions, mass changes or access. Payment confirmers can’t buy, pay or release credit.</a:t>
            </a:r>
            <a:endParaRPr lang="en-US" sz="1200" dirty="0"/>
          </a:p>
        </p:txBody>
      </p:sp>
      <p:sp>
        <p:nvSpPr>
          <p:cNvPr id="26" name="Card 25"/>
          <p:cNvSpPr/>
          <p:nvPr/>
        </p:nvSpPr>
        <p:spPr>
          <a:xfrm>
            <a:off x="406359" y="4649633"/>
            <a:ext cx="3699845" cy="1688622"/>
          </a:xfrm>
          <a:prstGeom prst="roundRect">
            <a:avLst>
              <a:gd name="adj" fmla="val 6017"/>
            </a:avLst>
          </a:prstGeom>
          <a:solidFill>
            <a:schemeClr val="bg1"/>
          </a:solidFill>
          <a:ln w="6350">
            <a:solidFill>
              <a:schemeClr val="accent6"/>
            </a:solidFill>
            <a:prstDash val="solid"/>
          </a:ln>
        </p:spPr>
      </p:sp>
      <p:sp>
        <p:nvSpPr>
          <p:cNvPr id="27" name="Text: PLATFORM OWNER"/>
          <p:cNvSpPr txBox="1"/>
          <p:nvPr/>
        </p:nvSpPr>
        <p:spPr>
          <a:xfrm>
            <a:off x="577809" y="4770242"/>
            <a:ext cx="3395076"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PLATFORM OWNER</a:t>
            </a:r>
            <a:endParaRPr lang="en-US" sz="1200" dirty="0"/>
          </a:p>
        </p:txBody>
      </p:sp>
      <p:sp>
        <p:nvSpPr>
          <p:cNvPr id="28" name="Text: Held by the Head of Data, AI &amp; Developme"/>
          <p:cNvSpPr txBox="1"/>
          <p:nvPr/>
        </p:nvSpPr>
        <p:spPr>
          <a:xfrm>
            <a:off x="577809" y="4991161"/>
            <a:ext cx="3395076"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Held by the Head of Data, AI &amp; Development </a:t>
            </a:r>
            <a:pPr algn="l" indent="0" marL="0">
              <a:lnSpc>
                <a:spcPts val="1560"/>
              </a:lnSpc>
              <a:buNone/>
            </a:pPr>
            <a:r>
              <a:rPr lang="en-US" sz="1200" dirty="0">
                <a:solidFill>
                  <a:schemeClr val="accent2"/>
                </a:solidFill>
              </a:rPr>
              <a:t>[name]</a:t>
            </a:r>
            <a:endParaRPr lang="en-US" sz="1200" dirty="0"/>
          </a:p>
        </p:txBody>
      </p:sp>
      <p:sp>
        <p:nvSpPr>
          <p:cNvPr id="29" name="Text: Accountable for the app, data platform, "/>
          <p:cNvSpPr txBox="1"/>
          <p:nvPr/>
        </p:nvSpPr>
        <p:spPr>
          <a:xfrm>
            <a:off x="577809" y="5227350"/>
            <a:ext cx="3395076" cy="990204"/>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Accountable for the app, data platform, agents and data team</a:t>
            </a:r>
            <a:endParaRPr lang="en-US" sz="1200" dirty="0"/>
          </a:p>
          <a:p>
            <a:pPr algn="l" marL="165100" indent="-165100">
              <a:lnSpc>
                <a:spcPts val="1560"/>
              </a:lnSpc>
              <a:buSzPct val="100000"/>
              <a:buChar char="•"/>
            </a:pPr>
            <a:r>
              <a:rPr lang="en-US" sz="1200" dirty="0">
                <a:solidFill>
                  <a:schemeClr val="tx1"/>
                </a:solidFill>
              </a:rPr>
              <a:t>Approves the rulebook, operating model and controls</a:t>
            </a:r>
            <a:endParaRPr lang="en-US" sz="1200" dirty="0"/>
          </a:p>
          <a:p>
            <a:pPr algn="l" marL="165100" indent="-165100">
              <a:lnSpc>
                <a:spcPts val="1560"/>
              </a:lnSpc>
              <a:buSzPct val="100000"/>
              <a:buChar char="•"/>
            </a:pPr>
            <a:r>
              <a:rPr lang="en-US" sz="1200" dirty="0">
                <a:solidFill>
                  <a:schemeClr val="tx1"/>
                </a:solidFill>
              </a:rPr>
              <a:t>Decides nothing about data content</a:t>
            </a:r>
            <a:endParaRPr lang="en-US" sz="1200" dirty="0"/>
          </a:p>
        </p:txBody>
      </p:sp>
      <p:sp>
        <p:nvSpPr>
          <p:cNvPr id="30" name="Card 29"/>
          <p:cNvSpPr/>
          <p:nvPr/>
        </p:nvSpPr>
        <p:spPr>
          <a:xfrm>
            <a:off x="4245925" y="4649633"/>
            <a:ext cx="3699937" cy="1688622"/>
          </a:xfrm>
          <a:prstGeom prst="roundRect">
            <a:avLst>
              <a:gd name="adj" fmla="val 6017"/>
            </a:avLst>
          </a:prstGeom>
          <a:solidFill>
            <a:schemeClr val="bg1"/>
          </a:solidFill>
          <a:ln w="6350">
            <a:solidFill>
              <a:schemeClr val="accent6"/>
            </a:solidFill>
            <a:prstDash val="solid"/>
          </a:ln>
        </p:spPr>
      </p:sp>
      <p:sp>
        <p:nvSpPr>
          <p:cNvPr id="31" name="Text: DATA TEAM"/>
          <p:cNvSpPr txBox="1"/>
          <p:nvPr/>
        </p:nvSpPr>
        <p:spPr>
          <a:xfrm>
            <a:off x="4417375" y="4770242"/>
            <a:ext cx="3395167"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DATA TEAM</a:t>
            </a:r>
            <a:endParaRPr lang="en-US" sz="1200" dirty="0"/>
          </a:p>
        </p:txBody>
      </p:sp>
      <p:sp>
        <p:nvSpPr>
          <p:cNvPr id="32" name="Text: The platform owner’s team"/>
          <p:cNvSpPr txBox="1"/>
          <p:nvPr/>
        </p:nvSpPr>
        <p:spPr>
          <a:xfrm>
            <a:off x="4417375" y="4991161"/>
            <a:ext cx="3395167"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The platform owner’s team</a:t>
            </a:r>
            <a:endParaRPr lang="en-US" sz="1200" dirty="0"/>
          </a:p>
        </p:txBody>
      </p:sp>
      <p:sp>
        <p:nvSpPr>
          <p:cNvPr id="33" name="Text: Builds and runs the app, platform and ag"/>
          <p:cNvSpPr txBox="1"/>
          <p:nvPr/>
        </p:nvSpPr>
        <p:spPr>
          <a:xfrm>
            <a:off x="4417375" y="5227350"/>
            <a:ext cx="3395167" cy="990204"/>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Builds and runs the app, platform and agents</a:t>
            </a:r>
            <a:endParaRPr lang="en-US" sz="1200" dirty="0"/>
          </a:p>
          <a:p>
            <a:pPr algn="l" marL="165100" indent="-165100">
              <a:lnSpc>
                <a:spcPts val="1560"/>
              </a:lnSpc>
              <a:buSzPct val="100000"/>
              <a:buChar char="•"/>
            </a:pPr>
            <a:r>
              <a:rPr lang="en-US" sz="1200" dirty="0">
                <a:solidFill>
                  <a:schemeClr val="tx1"/>
                </a:solidFill>
              </a:rPr>
              <a:t>Owns and supervises the agents</a:t>
            </a:r>
            <a:endParaRPr lang="en-US" sz="1200" dirty="0"/>
          </a:p>
          <a:p>
            <a:pPr algn="l" marL="165100" indent="-165100">
              <a:lnSpc>
                <a:spcPts val="1560"/>
              </a:lnSpc>
              <a:buSzPct val="100000"/>
              <a:buChar char="•"/>
            </a:pPr>
            <a:r>
              <a:rPr lang="en-US" sz="1200" dirty="0">
                <a:solidFill>
                  <a:schemeClr val="tx1"/>
                </a:solidFill>
              </a:rPr>
              <a:t>Runs the owner review; keeps the documents current</a:t>
            </a:r>
            <a:endParaRPr lang="en-US" sz="1200" dirty="0"/>
          </a:p>
          <a:p>
            <a:pPr algn="l" marL="165100" indent="-165100">
              <a:lnSpc>
                <a:spcPts val="1560"/>
              </a:lnSpc>
              <a:buSzPct val="100000"/>
              <a:buChar char="•"/>
            </a:pPr>
            <a:r>
              <a:rPr lang="en-US" sz="1200" dirty="0">
                <a:solidFill>
                  <a:schemeClr val="tx1"/>
                </a:solidFill>
              </a:rPr>
              <a:t>Provides the template, starters and training</a:t>
            </a:r>
            <a:endParaRPr lang="en-US" sz="1200" dirty="0"/>
          </a:p>
        </p:txBody>
      </p:sp>
      <p:sp>
        <p:nvSpPr>
          <p:cNvPr id="34" name="Card 33"/>
          <p:cNvSpPr/>
          <p:nvPr/>
        </p:nvSpPr>
        <p:spPr>
          <a:xfrm>
            <a:off x="8085673" y="4649633"/>
            <a:ext cx="3699937" cy="1688622"/>
          </a:xfrm>
          <a:prstGeom prst="roundRect">
            <a:avLst>
              <a:gd name="adj" fmla="val 6017"/>
            </a:avLst>
          </a:prstGeom>
          <a:solidFill>
            <a:schemeClr val="bg1"/>
          </a:solidFill>
          <a:ln w="6350">
            <a:solidFill>
              <a:schemeClr val="accent6"/>
            </a:solidFill>
            <a:prstDash val="solid"/>
          </a:ln>
        </p:spPr>
      </p:sp>
      <p:sp>
        <p:nvSpPr>
          <p:cNvPr id="35" name="Text: INTERNAL CONTROLS"/>
          <p:cNvSpPr txBox="1"/>
          <p:nvPr/>
        </p:nvSpPr>
        <p:spPr>
          <a:xfrm>
            <a:off x="8257123" y="4770242"/>
            <a:ext cx="3395167"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INTERNAL CONTROLS</a:t>
            </a:r>
            <a:endParaRPr lang="en-US" sz="1200" dirty="0"/>
          </a:p>
        </p:txBody>
      </p:sp>
      <p:sp>
        <p:nvSpPr>
          <p:cNvPr id="36" name="Text: Held by the internal controls team [name"/>
          <p:cNvSpPr txBox="1"/>
          <p:nvPr/>
        </p:nvSpPr>
        <p:spPr>
          <a:xfrm>
            <a:off x="8257123" y="4991161"/>
            <a:ext cx="3395167"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Held by the internal controls team </a:t>
            </a:r>
            <a:pPr algn="l" indent="0" marL="0">
              <a:lnSpc>
                <a:spcPts val="1560"/>
              </a:lnSpc>
              <a:buNone/>
            </a:pPr>
            <a:r>
              <a:rPr lang="en-US" sz="1200" dirty="0">
                <a:solidFill>
                  <a:schemeClr val="accent2"/>
                </a:solidFill>
              </a:rPr>
              <a:t>[name]</a:t>
            </a:r>
            <a:endParaRPr lang="en-US" sz="1200" dirty="0"/>
          </a:p>
        </p:txBody>
      </p:sp>
      <p:sp>
        <p:nvSpPr>
          <p:cNvPr id="37" name="Text: Reviews emergency access Reviews changes"/>
          <p:cNvSpPr txBox="1"/>
          <p:nvPr/>
        </p:nvSpPr>
        <p:spPr>
          <a:xfrm>
            <a:off x="8257123" y="5227350"/>
            <a:ext cx="3395167" cy="594086"/>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Reviews emergency access</a:t>
            </a:r>
            <a:endParaRPr lang="en-US" sz="1200" dirty="0"/>
          </a:p>
          <a:p>
            <a:pPr algn="l" marL="165100" indent="-165100">
              <a:lnSpc>
                <a:spcPts val="1560"/>
              </a:lnSpc>
              <a:buSzPct val="100000"/>
              <a:buChar char="•"/>
            </a:pPr>
            <a:r>
              <a:rPr lang="en-US" sz="1200" dirty="0">
                <a:solidFill>
                  <a:schemeClr val="tx1"/>
                </a:solidFill>
              </a:rPr>
              <a:t>Reviews changes made without a request</a:t>
            </a:r>
            <a:endParaRPr lang="en-US" sz="1200" dirty="0"/>
          </a:p>
          <a:p>
            <a:pPr algn="l" marL="165100" indent="-165100">
              <a:lnSpc>
                <a:spcPts val="1560"/>
              </a:lnSpc>
              <a:buSzPct val="100000"/>
              <a:buChar char="•"/>
            </a:pPr>
            <a:r>
              <a:rPr lang="en-US" sz="1200" dirty="0">
                <a:solidFill>
                  <a:schemeClr val="tx1"/>
                </a:solidFill>
              </a:rPr>
              <a:t>Samples the change reconciler agent’s matches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06359" y="330190"/>
            <a:ext cx="8889980" cy="363108"/>
          </a:xfrm>
          <a:prstGeom prst="rect">
            <a:avLst/>
          </a:prstGeom>
          <a:noFill/>
          <a:ln/>
        </p:spPr>
        <p:txBody>
          <a:bodyPr wrap="square" lIns="0" tIns="0" rIns="0" bIns="0" rtlCol="0" anchor="ctr"/>
          <a:lstStyle/>
          <a:p>
            <a:pPr algn="l" indent="0" marL="0">
              <a:buNone/>
            </a:pPr>
            <a:r>
              <a:rPr lang="en-US" sz="2600" b="1" dirty="0">
                <a:solidFill>
                  <a:schemeClr val="tx2"/>
                </a:solidFill>
              </a:rPr>
              <a:t>The rules on one page</a:t>
            </a:r>
            <a:endParaRPr lang="en-US" sz="2600" dirty="0"/>
          </a:p>
        </p:txBody>
      </p:sp>
      <p:sp>
        <p:nvSpPr>
          <p:cNvPr id="3" name="Card 2"/>
          <p:cNvSpPr/>
          <p:nvPr/>
        </p:nvSpPr>
        <p:spPr>
          <a:xfrm>
            <a:off x="3785799" y="387340"/>
            <a:ext cx="711769" cy="248808"/>
          </a:xfrm>
          <a:prstGeom prst="roundRect">
            <a:avLst>
              <a:gd name="adj" fmla="val 50007"/>
            </a:avLst>
          </a:prstGeom>
          <a:solidFill>
            <a:schemeClr val="accent2"/>
          </a:solidFill>
          <a:ln/>
        </p:spPr>
      </p:sp>
      <p:sp>
        <p:nvSpPr>
          <p:cNvPr id="4" name="Text: DRAFT"/>
          <p:cNvSpPr txBox="1"/>
          <p:nvPr/>
        </p:nvSpPr>
        <p:spPr>
          <a:xfrm>
            <a:off x="3900099" y="412760"/>
            <a:ext cx="483169" cy="198059"/>
          </a:xfrm>
          <a:prstGeom prst="rect">
            <a:avLst/>
          </a:prstGeom>
          <a:noFill/>
          <a:ln/>
        </p:spPr>
        <p:txBody>
          <a:bodyPr wrap="square" lIns="0" tIns="0" rIns="0" bIns="0" rtlCol="0" anchor="ctr"/>
          <a:lstStyle/>
          <a:p>
            <a:pPr algn="ctr" indent="0" marL="0">
              <a:lnSpc>
                <a:spcPts val="1560"/>
              </a:lnSpc>
              <a:buNone/>
            </a:pPr>
            <a:r>
              <a:rPr lang="en-US" sz="1200" b="1" spc="100" kern="0" dirty="0">
                <a:solidFill>
                  <a:schemeClr val="bg1"/>
                </a:solidFill>
              </a:rPr>
              <a:t>DRAFT</a:t>
            </a:r>
            <a:endParaRPr lang="en-US" sz="1200" dirty="0"/>
          </a:p>
        </p:txBody>
      </p:sp>
      <p:sp>
        <p:nvSpPr>
          <p:cNvPr id="5" name="Card 5"/>
          <p:cNvSpPr/>
          <p:nvPr/>
        </p:nvSpPr>
        <p:spPr>
          <a:xfrm>
            <a:off x="406359" y="807598"/>
            <a:ext cx="6881409" cy="1135319"/>
          </a:xfrm>
          <a:prstGeom prst="roundRect">
            <a:avLst>
              <a:gd name="adj" fmla="val 8949"/>
            </a:avLst>
          </a:prstGeom>
          <a:solidFill>
            <a:schemeClr val="tx2"/>
          </a:solidFill>
          <a:ln/>
        </p:spPr>
      </p:sp>
      <p:sp>
        <p:nvSpPr>
          <p:cNvPr id="6" name="Text: HOW THE RULES WORK"/>
          <p:cNvSpPr txBox="1"/>
          <p:nvPr/>
        </p:nvSpPr>
        <p:spPr>
          <a:xfrm>
            <a:off x="634959" y="998159"/>
            <a:ext cx="6462339"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4"/>
                </a:solidFill>
              </a:rPr>
              <a:t>HOW THE RULES WORK</a:t>
            </a:r>
            <a:endParaRPr lang="en-US" sz="1200" dirty="0"/>
          </a:p>
        </p:txBody>
      </p:sp>
      <p:sp>
        <p:nvSpPr>
          <p:cNvPr id="7" name="Text: 22 short rules in seven groups say what "/>
          <p:cNvSpPr txBox="1"/>
          <p:nvPr/>
        </p:nvSpPr>
        <p:spPr>
          <a:xfrm>
            <a:off x="634959" y="1257209"/>
            <a:ext cx="6462339" cy="495330"/>
          </a:xfrm>
          <a:prstGeom prst="rect">
            <a:avLst/>
          </a:prstGeom>
          <a:noFill/>
          <a:ln/>
        </p:spPr>
        <p:txBody>
          <a:bodyPr wrap="square" lIns="0" tIns="0" rIns="0" bIns="0" rtlCol="0" anchor="t"/>
          <a:lstStyle/>
          <a:p>
            <a:pPr algn="l" indent="0" marL="0">
              <a:lnSpc>
                <a:spcPts val="1950"/>
              </a:lnSpc>
              <a:buNone/>
            </a:pPr>
            <a:r>
              <a:rPr lang="en-US" sz="1500" dirty="0">
                <a:solidFill>
                  <a:schemeClr val="bg1"/>
                </a:solidFill>
                <a:latin typeface="+mj-lt" pitchFamily="34" charset="0"/>
                <a:ea typeface="+mj-lt" pitchFamily="34" charset="-122"/>
                <a:cs typeface="+mj-lt" pitchFamily="34" charset="-120"/>
              </a:rPr>
              <a:t>22 short rules in seven groups say what must be true; the controls say how. Each domain sets what good data looks like in its profile.</a:t>
            </a:r>
            <a:endParaRPr lang="en-US" sz="1500" dirty="0"/>
          </a:p>
        </p:txBody>
      </p:sp>
      <p:sp>
        <p:nvSpPr>
          <p:cNvPr id="8" name="Card 8"/>
          <p:cNvSpPr/>
          <p:nvPr/>
        </p:nvSpPr>
        <p:spPr>
          <a:xfrm>
            <a:off x="7427488" y="807598"/>
            <a:ext cx="4358122" cy="1135319"/>
          </a:xfrm>
          <a:prstGeom prst="roundRect">
            <a:avLst>
              <a:gd name="adj" fmla="val 8949"/>
            </a:avLst>
          </a:prstGeom>
          <a:solidFill>
            <a:schemeClr val="bg1"/>
          </a:solidFill>
          <a:ln w="6350">
            <a:solidFill>
              <a:schemeClr val="accent6"/>
            </a:solidFill>
            <a:prstDash val="solid"/>
          </a:ln>
        </p:spPr>
      </p:sp>
      <p:sp>
        <p:nvSpPr>
          <p:cNvPr id="9" name="Text: APPLY EVERYWHERE"/>
          <p:cNvSpPr txBox="1"/>
          <p:nvPr/>
        </p:nvSpPr>
        <p:spPr>
          <a:xfrm>
            <a:off x="7598938" y="967801"/>
            <a:ext cx="405326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APPLY EVERYWHERE</a:t>
            </a:r>
            <a:endParaRPr lang="en-US" sz="1200" dirty="0"/>
          </a:p>
        </p:txBody>
      </p:sp>
      <p:sp>
        <p:nvSpPr>
          <p:cNvPr id="10" name="Text: Five rules cover all data from the start"/>
          <p:cNvSpPr txBox="1"/>
          <p:nvPr/>
        </p:nvSpPr>
        <p:spPr>
          <a:xfrm>
            <a:off x="7598938" y="1188720"/>
            <a:ext cx="4053261"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Five rules cover all data from the start, SAP or not: </a:t>
            </a:r>
            <a:pPr algn="l" indent="0" marL="0">
              <a:lnSpc>
                <a:spcPts val="1560"/>
              </a:lnSpc>
              <a:buNone/>
            </a:pPr>
            <a:r>
              <a:rPr lang="en-US" sz="1200" b="1" dirty="0">
                <a:solidFill>
                  <a:schemeClr val="tx1"/>
                </a:solidFill>
              </a:rPr>
              <a:t>ownership</a:t>
            </a:r>
            <a:pPr algn="l" indent="0" marL="0">
              <a:lnSpc>
                <a:spcPts val="1560"/>
              </a:lnSpc>
              <a:buNone/>
            </a:pPr>
            <a:r>
              <a:rPr lang="en-US" sz="1200" dirty="0">
                <a:solidFill>
                  <a:schemeClr val="tx1"/>
                </a:solidFill>
              </a:rPr>
              <a:t>, </a:t>
            </a:r>
            <a:pPr algn="l" indent="0" marL="0">
              <a:lnSpc>
                <a:spcPts val="1560"/>
              </a:lnSpc>
              <a:buNone/>
            </a:pPr>
            <a:r>
              <a:rPr lang="en-US" sz="1200" b="1" dirty="0">
                <a:solidFill>
                  <a:schemeClr val="tx1"/>
                </a:solidFill>
              </a:rPr>
              <a:t>classified access</a:t>
            </a:r>
            <a:pPr algn="l" indent="0" marL="0">
              <a:lnSpc>
                <a:spcPts val="1560"/>
              </a:lnSpc>
              <a:buNone/>
            </a:pPr>
            <a:r>
              <a:rPr lang="en-US" sz="1200" dirty="0">
                <a:solidFill>
                  <a:schemeClr val="tx1"/>
                </a:solidFill>
              </a:rPr>
              <a:t>, </a:t>
            </a:r>
            <a:pPr algn="l" indent="0" marL="0">
              <a:lnSpc>
                <a:spcPts val="1560"/>
              </a:lnSpc>
              <a:buNone/>
            </a:pPr>
            <a:r>
              <a:rPr lang="en-US" sz="1200" b="1" dirty="0">
                <a:solidFill>
                  <a:schemeClr val="tx1"/>
                </a:solidFill>
              </a:rPr>
              <a:t>trade secrets</a:t>
            </a:r>
            <a:pPr algn="l" indent="0" marL="0">
              <a:lnSpc>
                <a:spcPts val="1560"/>
              </a:lnSpc>
              <a:buNone/>
            </a:pPr>
            <a:r>
              <a:rPr lang="en-US" sz="1200" dirty="0">
                <a:solidFill>
                  <a:schemeClr val="tx1"/>
                </a:solidFill>
              </a:rPr>
              <a:t> and </a:t>
            </a:r>
            <a:pPr algn="l" indent="0" marL="0">
              <a:lnSpc>
                <a:spcPts val="1560"/>
              </a:lnSpc>
              <a:buNone/>
            </a:pPr>
            <a:r>
              <a:rPr lang="en-US" sz="1200" b="1" dirty="0">
                <a:solidFill>
                  <a:schemeClr val="tx1"/>
                </a:solidFill>
              </a:rPr>
              <a:t>AI tools</a:t>
            </a:r>
            <a:pPr algn="l" indent="0" marL="0">
              <a:lnSpc>
                <a:spcPts val="1560"/>
              </a:lnSpc>
              <a:buNone/>
            </a:pPr>
            <a:r>
              <a:rPr lang="en-US" sz="1200" dirty="0">
                <a:solidFill>
                  <a:schemeClr val="tx1"/>
                </a:solidFill>
              </a:rPr>
              <a:t>. The rest cover SAP now, and other systems as they come in.</a:t>
            </a:r>
            <a:endParaRPr lang="en-US" sz="1200" dirty="0"/>
          </a:p>
        </p:txBody>
      </p:sp>
      <p:sp>
        <p:nvSpPr>
          <p:cNvPr id="11" name="Text: INCORRECT AND INCONSISTENT DATA"/>
          <p:cNvSpPr txBox="1"/>
          <p:nvPr/>
        </p:nvSpPr>
        <p:spPr>
          <a:xfrm>
            <a:off x="406359" y="2057309"/>
            <a:ext cx="565785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INCORRECT AND INCONSISTENT DATA</a:t>
            </a:r>
            <a:endParaRPr lang="en-US" sz="1200" dirty="0"/>
          </a:p>
        </p:txBody>
      </p:sp>
      <p:sp>
        <p:nvSpPr>
          <p:cNvPr id="12" name="Card 12"/>
          <p:cNvSpPr/>
          <p:nvPr/>
        </p:nvSpPr>
        <p:spPr>
          <a:xfrm>
            <a:off x="406359" y="2316358"/>
            <a:ext cx="5619720" cy="1352946"/>
          </a:xfrm>
          <a:prstGeom prst="roundRect">
            <a:avLst>
              <a:gd name="adj" fmla="val 5632"/>
            </a:avLst>
          </a:prstGeom>
          <a:solidFill>
            <a:schemeClr val="bg1"/>
          </a:solidFill>
          <a:ln w="6350">
            <a:solidFill>
              <a:schemeClr val="accent6"/>
            </a:solidFill>
            <a:prstDash val="solid"/>
          </a:ln>
        </p:spPr>
      </p:sp>
      <p:sp>
        <p:nvSpPr>
          <p:cNvPr id="13" name="Text: Ownership"/>
          <p:cNvSpPr txBox="1"/>
          <p:nvPr/>
        </p:nvSpPr>
        <p:spPr>
          <a:xfrm>
            <a:off x="539770" y="2788463"/>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Ownership</a:t>
            </a:r>
            <a:endParaRPr lang="en-US" sz="1200" dirty="0"/>
          </a:p>
        </p:txBody>
      </p:sp>
      <p:sp>
        <p:nvSpPr>
          <p:cNvPr id="14" name="Text: R-01, R-02"/>
          <p:cNvSpPr txBox="1"/>
          <p:nvPr/>
        </p:nvSpPr>
        <p:spPr>
          <a:xfrm>
            <a:off x="539770" y="2999141"/>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R-01, R-02</a:t>
            </a:r>
            <a:endParaRPr lang="en-US" sz="1200" dirty="0"/>
          </a:p>
        </p:txBody>
      </p:sp>
      <p:sp>
        <p:nvSpPr>
          <p:cNvPr id="15" name="Text: Every domain has a named owner, its GPDO"/>
          <p:cNvSpPr txBox="1"/>
          <p:nvPr/>
        </p:nvSpPr>
        <p:spPr>
          <a:xfrm>
            <a:off x="2444740" y="2794772"/>
            <a:ext cx="3486150" cy="396118"/>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Every domain has a named owner, its GPDO, and every field on every record exactly one owner.</a:t>
            </a:r>
            <a:endParaRPr lang="en-US" sz="1200" dirty="0"/>
          </a:p>
        </p:txBody>
      </p:sp>
      <p:sp>
        <p:nvSpPr>
          <p:cNvPr id="16" name="Card 16"/>
          <p:cNvSpPr/>
          <p:nvPr/>
        </p:nvSpPr>
        <p:spPr>
          <a:xfrm>
            <a:off x="406359" y="3745474"/>
            <a:ext cx="5619720" cy="1353038"/>
          </a:xfrm>
          <a:prstGeom prst="roundRect">
            <a:avLst>
              <a:gd name="adj" fmla="val 5632"/>
            </a:avLst>
          </a:prstGeom>
          <a:solidFill>
            <a:schemeClr val="bg1"/>
          </a:solidFill>
          <a:ln w="6350">
            <a:solidFill>
              <a:schemeClr val="accent6"/>
            </a:solidFill>
            <a:prstDash val="solid"/>
          </a:ln>
        </p:spPr>
      </p:sp>
      <p:sp>
        <p:nvSpPr>
          <p:cNvPr id="17" name="Text: Changing master data"/>
          <p:cNvSpPr txBox="1"/>
          <p:nvPr/>
        </p:nvSpPr>
        <p:spPr>
          <a:xfrm>
            <a:off x="539770" y="4217579"/>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Changing master data</a:t>
            </a:r>
            <a:endParaRPr lang="en-US" sz="1200" dirty="0"/>
          </a:p>
        </p:txBody>
      </p:sp>
      <p:sp>
        <p:nvSpPr>
          <p:cNvPr id="18" name="Text: R-03 to R-08"/>
          <p:cNvSpPr txBox="1"/>
          <p:nvPr/>
        </p:nvSpPr>
        <p:spPr>
          <a:xfrm>
            <a:off x="539770" y="4428348"/>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R-03 to R-08</a:t>
            </a:r>
            <a:endParaRPr lang="en-US" sz="1200" dirty="0"/>
          </a:p>
        </p:txBody>
      </p:sp>
      <p:sp>
        <p:nvSpPr>
          <p:cNvPr id="19" name="Text: Changes only through the governed proces"/>
          <p:cNvSpPr txBox="1"/>
          <p:nvPr/>
        </p:nvSpPr>
        <p:spPr>
          <a:xfrm>
            <a:off x="2444740" y="3926891"/>
            <a:ext cx="3486150" cy="990204"/>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Changes only through the governed process, with one system of record for each field. Requests are checked, then approved by the app as owners allow, or by an owner; mass changes need sign-off; every change traces to an approved request.</a:t>
            </a:r>
            <a:endParaRPr lang="en-US" sz="1200" dirty="0"/>
          </a:p>
        </p:txBody>
      </p:sp>
      <p:sp>
        <p:nvSpPr>
          <p:cNvPr id="20" name="Card 20"/>
          <p:cNvSpPr/>
          <p:nvPr/>
        </p:nvSpPr>
        <p:spPr>
          <a:xfrm>
            <a:off x="406359" y="5174772"/>
            <a:ext cx="5619720" cy="1353038"/>
          </a:xfrm>
          <a:prstGeom prst="roundRect">
            <a:avLst>
              <a:gd name="adj" fmla="val 5632"/>
            </a:avLst>
          </a:prstGeom>
          <a:solidFill>
            <a:schemeClr val="bg1"/>
          </a:solidFill>
          <a:ln w="6350">
            <a:solidFill>
              <a:schemeClr val="accent6"/>
            </a:solidFill>
            <a:prstDash val="solid"/>
          </a:ln>
        </p:spPr>
      </p:sp>
      <p:sp>
        <p:nvSpPr>
          <p:cNvPr id="21" name="Text: Quality and third parties"/>
          <p:cNvSpPr txBox="1"/>
          <p:nvPr/>
        </p:nvSpPr>
        <p:spPr>
          <a:xfrm>
            <a:off x="539770" y="5646877"/>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Quality and third parties</a:t>
            </a:r>
            <a:endParaRPr lang="en-US" sz="1200" dirty="0"/>
          </a:p>
        </p:txBody>
      </p:sp>
      <p:sp>
        <p:nvSpPr>
          <p:cNvPr id="22" name="Text: R-09 to R-12"/>
          <p:cNvSpPr txBox="1"/>
          <p:nvPr/>
        </p:nvSpPr>
        <p:spPr>
          <a:xfrm>
            <a:off x="539770" y="5857555"/>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R-09 to R-12</a:t>
            </a:r>
            <a:endParaRPr lang="en-US" sz="1200" dirty="0"/>
          </a:p>
        </p:txBody>
      </p:sp>
      <p:sp>
        <p:nvSpPr>
          <p:cNvPr id="23" name="Text: Each domain sets its conventions, checks"/>
          <p:cNvSpPr txBox="1"/>
          <p:nvPr/>
        </p:nvSpPr>
        <p:spPr>
          <a:xfrm>
            <a:off x="2444740" y="5554157"/>
            <a:ext cx="348615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Each domain sets its conventions, checks and thresholds. Issues are fixed at source, unused records are blocked, and third parties work within the rules.</a:t>
            </a:r>
            <a:endParaRPr lang="en-US" sz="1200" dirty="0"/>
          </a:p>
        </p:txBody>
      </p:sp>
      <p:sp>
        <p:nvSpPr>
          <p:cNvPr id="24" name="Text: TRADE SECRET, FRAUD, PRIVACY AND AUDIT R"/>
          <p:cNvSpPr txBox="1"/>
          <p:nvPr/>
        </p:nvSpPr>
        <p:spPr>
          <a:xfrm>
            <a:off x="6165891" y="2057309"/>
            <a:ext cx="565785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TRADE SECRET, FRAUD, PRIVACY AND AUDIT RISK</a:t>
            </a:r>
            <a:endParaRPr lang="en-US" sz="1200" dirty="0"/>
          </a:p>
        </p:txBody>
      </p:sp>
      <p:sp>
        <p:nvSpPr>
          <p:cNvPr id="25" name="Card 25"/>
          <p:cNvSpPr/>
          <p:nvPr/>
        </p:nvSpPr>
        <p:spPr>
          <a:xfrm>
            <a:off x="6165891" y="2316358"/>
            <a:ext cx="5619720" cy="1008035"/>
          </a:xfrm>
          <a:prstGeom prst="roundRect">
            <a:avLst>
              <a:gd name="adj" fmla="val 7559"/>
            </a:avLst>
          </a:prstGeom>
          <a:solidFill>
            <a:schemeClr val="bg1"/>
          </a:solidFill>
          <a:ln w="6350">
            <a:solidFill>
              <a:schemeClr val="accent6"/>
            </a:solidFill>
            <a:prstDash val="solid"/>
          </a:ln>
        </p:spPr>
      </p:sp>
      <p:sp>
        <p:nvSpPr>
          <p:cNvPr id="26" name="Text: Sensitive and payment data"/>
          <p:cNvSpPr txBox="1"/>
          <p:nvPr/>
        </p:nvSpPr>
        <p:spPr>
          <a:xfrm>
            <a:off x="6299210" y="2616007"/>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Sensitive and payment data</a:t>
            </a:r>
            <a:endParaRPr lang="en-US" sz="1200" dirty="0"/>
          </a:p>
        </p:txBody>
      </p:sp>
      <p:sp>
        <p:nvSpPr>
          <p:cNvPr id="27" name="Text: R-13 to R-15"/>
          <p:cNvSpPr txBox="1"/>
          <p:nvPr/>
        </p:nvSpPr>
        <p:spPr>
          <a:xfrm>
            <a:off x="6299210" y="2826776"/>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R-13 to R-15</a:t>
            </a:r>
            <a:endParaRPr lang="en-US" sz="1200" dirty="0"/>
          </a:p>
        </p:txBody>
      </p:sp>
      <p:sp>
        <p:nvSpPr>
          <p:cNvPr id="28" name="Text: Changes to sensitive fields, such as ban"/>
          <p:cNvSpPr txBox="1"/>
          <p:nvPr/>
        </p:nvSpPr>
        <p:spPr>
          <a:xfrm>
            <a:off x="8204180" y="2424349"/>
            <a:ext cx="3486150" cy="792145"/>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Changes to sensitive fields, such as bank details, need someone else to confirm them. Payment data is kept apart from paying, and bank changes are verified with the supplier.</a:t>
            </a:r>
            <a:endParaRPr lang="en-US" sz="1200" dirty="0"/>
          </a:p>
        </p:txBody>
      </p:sp>
      <p:sp>
        <p:nvSpPr>
          <p:cNvPr id="29" name="Card 29"/>
          <p:cNvSpPr/>
          <p:nvPr/>
        </p:nvSpPr>
        <p:spPr>
          <a:xfrm>
            <a:off x="6165891" y="3400654"/>
            <a:ext cx="5619720" cy="1008035"/>
          </a:xfrm>
          <a:prstGeom prst="roundRect">
            <a:avLst>
              <a:gd name="adj" fmla="val 7559"/>
            </a:avLst>
          </a:prstGeom>
          <a:solidFill>
            <a:schemeClr val="bg1"/>
          </a:solidFill>
          <a:ln w="6350">
            <a:solidFill>
              <a:schemeClr val="accent6"/>
            </a:solidFill>
            <a:prstDash val="solid"/>
          </a:ln>
        </p:spPr>
      </p:sp>
      <p:sp>
        <p:nvSpPr>
          <p:cNvPr id="30" name="Text: Trade secrets, privacy and access"/>
          <p:cNvSpPr txBox="1"/>
          <p:nvPr/>
        </p:nvSpPr>
        <p:spPr>
          <a:xfrm>
            <a:off x="6299210" y="3601273"/>
            <a:ext cx="1816090" cy="396118"/>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Trade secrets, privacy and access</a:t>
            </a:r>
            <a:endParaRPr lang="en-US" sz="1200" dirty="0"/>
          </a:p>
        </p:txBody>
      </p:sp>
      <p:sp>
        <p:nvSpPr>
          <p:cNvPr id="31" name="Text: R-16, R-17, R-21"/>
          <p:cNvSpPr txBox="1"/>
          <p:nvPr/>
        </p:nvSpPr>
        <p:spPr>
          <a:xfrm>
            <a:off x="6299210" y="4010010"/>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R-16, R-17, R-21</a:t>
            </a:r>
            <a:endParaRPr lang="en-US" sz="1200" dirty="0"/>
          </a:p>
        </p:txBody>
      </p:sp>
      <p:sp>
        <p:nvSpPr>
          <p:cNvPr id="32" name="Text: Classified fields, with access only wher"/>
          <p:cNvSpPr txBox="1"/>
          <p:nvPr/>
        </p:nvSpPr>
        <p:spPr>
          <a:xfrm>
            <a:off x="8204180" y="3508553"/>
            <a:ext cx="3486150" cy="792145"/>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Classified fields, with access only where needed. Trade secrets get the highest classification everywhere. Personal data is blocked when its purpose ends, then deleted.</a:t>
            </a:r>
            <a:endParaRPr lang="en-US" sz="1200" dirty="0"/>
          </a:p>
        </p:txBody>
      </p:sp>
      <p:sp>
        <p:nvSpPr>
          <p:cNvPr id="33" name="Card 33"/>
          <p:cNvSpPr/>
          <p:nvPr/>
        </p:nvSpPr>
        <p:spPr>
          <a:xfrm>
            <a:off x="6165891" y="4484858"/>
            <a:ext cx="5619720" cy="983346"/>
          </a:xfrm>
          <a:prstGeom prst="roundRect">
            <a:avLst>
              <a:gd name="adj" fmla="val 7749"/>
            </a:avLst>
          </a:prstGeom>
          <a:solidFill>
            <a:schemeClr val="bg1"/>
          </a:solidFill>
          <a:ln w="6350">
            <a:solidFill>
              <a:schemeClr val="accent6"/>
            </a:solidFill>
            <a:prstDash val="solid"/>
          </a:ln>
        </p:spPr>
      </p:sp>
      <p:sp>
        <p:nvSpPr>
          <p:cNvPr id="34" name="Text: Agents and AI"/>
          <p:cNvSpPr txBox="1"/>
          <p:nvPr/>
        </p:nvSpPr>
        <p:spPr>
          <a:xfrm>
            <a:off x="6299210" y="4772162"/>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Agents and AI</a:t>
            </a:r>
            <a:endParaRPr lang="en-US" sz="1200" dirty="0"/>
          </a:p>
        </p:txBody>
      </p:sp>
      <p:sp>
        <p:nvSpPr>
          <p:cNvPr id="35" name="Text: R-18, R-22"/>
          <p:cNvSpPr txBox="1"/>
          <p:nvPr/>
        </p:nvSpPr>
        <p:spPr>
          <a:xfrm>
            <a:off x="6299210" y="4982840"/>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R-18, R-22</a:t>
            </a:r>
            <a:endParaRPr lang="en-US" sz="1200" dirty="0"/>
          </a:p>
        </p:txBody>
      </p:sp>
      <p:sp>
        <p:nvSpPr>
          <p:cNvPr id="36" name="Text: Agents are registered, limited and logge"/>
          <p:cNvSpPr txBox="1"/>
          <p:nvPr/>
        </p:nvSpPr>
        <p:spPr>
          <a:xfrm>
            <a:off x="8204180" y="4679442"/>
            <a:ext cx="348615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Agents are registered, limited and logged. AI never takes instructions from outside content; outside models need approval and never get trade secrets.</a:t>
            </a:r>
            <a:endParaRPr lang="en-US" sz="1200" dirty="0"/>
          </a:p>
        </p:txBody>
      </p:sp>
      <p:sp>
        <p:nvSpPr>
          <p:cNvPr id="37" name="Card 37"/>
          <p:cNvSpPr/>
          <p:nvPr/>
        </p:nvSpPr>
        <p:spPr>
          <a:xfrm>
            <a:off x="6165891" y="5544464"/>
            <a:ext cx="5619720" cy="983346"/>
          </a:xfrm>
          <a:prstGeom prst="roundRect">
            <a:avLst>
              <a:gd name="adj" fmla="val 7749"/>
            </a:avLst>
          </a:prstGeom>
          <a:solidFill>
            <a:schemeClr val="bg1"/>
          </a:solidFill>
          <a:ln w="6350">
            <a:solidFill>
              <a:schemeClr val="accent6"/>
            </a:solidFill>
            <a:prstDash val="solid"/>
          </a:ln>
        </p:spPr>
      </p:sp>
      <p:sp>
        <p:nvSpPr>
          <p:cNvPr id="38" name="Text: Data team and exceptions"/>
          <p:cNvSpPr txBox="1"/>
          <p:nvPr/>
        </p:nvSpPr>
        <p:spPr>
          <a:xfrm>
            <a:off x="6299210" y="5831677"/>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Data team and exceptions</a:t>
            </a:r>
            <a:endParaRPr lang="en-US" sz="1200" dirty="0"/>
          </a:p>
        </p:txBody>
      </p:sp>
      <p:sp>
        <p:nvSpPr>
          <p:cNvPr id="39" name="Text: R-19, R-20"/>
          <p:cNvSpPr txBox="1"/>
          <p:nvPr/>
        </p:nvSpPr>
        <p:spPr>
          <a:xfrm>
            <a:off x="6299210" y="6042447"/>
            <a:ext cx="1816090" cy="198059"/>
          </a:xfrm>
          <a:prstGeom prst="rect">
            <a:avLst/>
          </a:prstGeom>
          <a:noFill/>
          <a:ln/>
        </p:spPr>
        <p:txBody>
          <a:bodyPr wrap="square" lIns="0" tIns="0" rIns="0" bIns="0" rtlCol="0" anchor="t"/>
          <a:lstStyle/>
          <a:p>
            <a:pPr algn="l" indent="0" marL="0">
              <a:lnSpc>
                <a:spcPts val="1560"/>
              </a:lnSpc>
              <a:buNone/>
            </a:pPr>
            <a:r>
              <a:rPr lang="en-US" sz="1200" b="1" dirty="0">
                <a:solidFill>
                  <a:schemeClr val="accent1"/>
                </a:solidFill>
              </a:rPr>
              <a:t>R-19, R-20</a:t>
            </a:r>
            <a:endParaRPr lang="en-US" sz="1200" dirty="0"/>
          </a:p>
        </p:txBody>
      </p:sp>
      <p:sp>
        <p:nvSpPr>
          <p:cNvPr id="40" name="Text: The data team uses the governed process "/>
          <p:cNvSpPr txBox="1"/>
          <p:nvPr/>
        </p:nvSpPr>
        <p:spPr>
          <a:xfrm>
            <a:off x="8204180" y="5739049"/>
            <a:ext cx="348615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The data team uses the governed process too. Exceptions are approved by the owner and time-limited.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06359" y="330190"/>
            <a:ext cx="8889980" cy="363108"/>
          </a:xfrm>
          <a:prstGeom prst="rect">
            <a:avLst/>
          </a:prstGeom>
          <a:noFill/>
          <a:ln/>
        </p:spPr>
        <p:txBody>
          <a:bodyPr wrap="square" lIns="0" tIns="0" rIns="0" bIns="0" rtlCol="0" anchor="ctr"/>
          <a:lstStyle/>
          <a:p>
            <a:pPr algn="l" indent="0" marL="0">
              <a:buNone/>
            </a:pPr>
            <a:r>
              <a:rPr lang="en-US" sz="2600" b="1" dirty="0">
                <a:solidFill>
                  <a:schemeClr val="tx2"/>
                </a:solidFill>
              </a:rPr>
              <a:t>Operating model: who does what</a:t>
            </a:r>
            <a:endParaRPr lang="en-US" sz="2600" dirty="0"/>
          </a:p>
        </p:txBody>
      </p:sp>
      <p:sp>
        <p:nvSpPr>
          <p:cNvPr id="3" name="Card 2"/>
          <p:cNvSpPr/>
          <p:nvPr/>
        </p:nvSpPr>
        <p:spPr>
          <a:xfrm>
            <a:off x="5402367" y="387340"/>
            <a:ext cx="711769" cy="248808"/>
          </a:xfrm>
          <a:prstGeom prst="roundRect">
            <a:avLst>
              <a:gd name="adj" fmla="val 50007"/>
            </a:avLst>
          </a:prstGeom>
          <a:solidFill>
            <a:schemeClr val="accent2"/>
          </a:solidFill>
          <a:ln/>
        </p:spPr>
      </p:sp>
      <p:sp>
        <p:nvSpPr>
          <p:cNvPr id="4" name="Text: DRAFT"/>
          <p:cNvSpPr txBox="1"/>
          <p:nvPr/>
        </p:nvSpPr>
        <p:spPr>
          <a:xfrm>
            <a:off x="5516667" y="412760"/>
            <a:ext cx="483169" cy="198059"/>
          </a:xfrm>
          <a:prstGeom prst="rect">
            <a:avLst/>
          </a:prstGeom>
          <a:noFill/>
          <a:ln/>
        </p:spPr>
        <p:txBody>
          <a:bodyPr wrap="square" lIns="0" tIns="0" rIns="0" bIns="0" rtlCol="0" anchor="ctr"/>
          <a:lstStyle/>
          <a:p>
            <a:pPr algn="ctr" indent="0" marL="0">
              <a:lnSpc>
                <a:spcPts val="1560"/>
              </a:lnSpc>
              <a:buNone/>
            </a:pPr>
            <a:r>
              <a:rPr lang="en-US" sz="1200" b="1" spc="100" kern="0" dirty="0">
                <a:solidFill>
                  <a:schemeClr val="bg1"/>
                </a:solidFill>
              </a:rPr>
              <a:t>DRAFT</a:t>
            </a:r>
            <a:endParaRPr lang="en-US" sz="1200" dirty="0"/>
          </a:p>
        </p:txBody>
      </p:sp>
      <p:sp>
        <p:nvSpPr>
          <p:cNvPr id="5" name="Card 5"/>
          <p:cNvSpPr/>
          <p:nvPr/>
        </p:nvSpPr>
        <p:spPr>
          <a:xfrm>
            <a:off x="406359" y="807598"/>
            <a:ext cx="6881409" cy="1254465"/>
          </a:xfrm>
          <a:prstGeom prst="roundRect">
            <a:avLst>
              <a:gd name="adj" fmla="val 8099"/>
            </a:avLst>
          </a:prstGeom>
          <a:solidFill>
            <a:schemeClr val="tx2"/>
          </a:solidFill>
          <a:ln/>
        </p:spPr>
      </p:sp>
      <p:sp>
        <p:nvSpPr>
          <p:cNvPr id="6" name="Text: IN SHORT"/>
          <p:cNvSpPr txBox="1"/>
          <p:nvPr/>
        </p:nvSpPr>
        <p:spPr>
          <a:xfrm>
            <a:off x="634959" y="1057686"/>
            <a:ext cx="6462339"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4"/>
                </a:solidFill>
              </a:rPr>
              <a:t>IN SHORT</a:t>
            </a:r>
            <a:endParaRPr lang="en-US" sz="1200" dirty="0"/>
          </a:p>
        </p:txBody>
      </p:sp>
      <p:sp>
        <p:nvSpPr>
          <p:cNvPr id="7" name="Text: GPDOs set up the domain. Attribute owner"/>
          <p:cNvSpPr txBox="1"/>
          <p:nvPr/>
        </p:nvSpPr>
        <p:spPr>
          <a:xfrm>
            <a:off x="634959" y="1316736"/>
            <a:ext cx="6462339" cy="495330"/>
          </a:xfrm>
          <a:prstGeom prst="rect">
            <a:avLst/>
          </a:prstGeom>
          <a:noFill/>
          <a:ln/>
        </p:spPr>
        <p:txBody>
          <a:bodyPr wrap="square" lIns="0" tIns="0" rIns="0" bIns="0" rtlCol="0" anchor="t"/>
          <a:lstStyle/>
          <a:p>
            <a:pPr algn="l" indent="0" marL="0">
              <a:lnSpc>
                <a:spcPts val="1950"/>
              </a:lnSpc>
              <a:buNone/>
            </a:pPr>
            <a:r>
              <a:rPr lang="en-US" sz="1500" dirty="0">
                <a:solidFill>
                  <a:schemeClr val="bg1"/>
                </a:solidFill>
                <a:latin typeface="+mj-lt" pitchFamily="34" charset="0"/>
                <a:ea typeface="+mj-lt" pitchFamily="34" charset="-122"/>
                <a:cs typeface="+mj-lt" pitchFamily="34" charset="-120"/>
              </a:rPr>
              <a:t>GPDOs set up the domain. Attribute owners set their parts and decide the daily cases, or hand them to delegates. The data team runs the platform.</a:t>
            </a:r>
            <a:endParaRPr lang="en-US" sz="1500" dirty="0"/>
          </a:p>
        </p:txBody>
      </p:sp>
      <p:sp>
        <p:nvSpPr>
          <p:cNvPr id="8" name="Card 8"/>
          <p:cNvSpPr/>
          <p:nvPr/>
        </p:nvSpPr>
        <p:spPr>
          <a:xfrm>
            <a:off x="7427488" y="807598"/>
            <a:ext cx="4358122" cy="1254465"/>
          </a:xfrm>
          <a:prstGeom prst="roundRect">
            <a:avLst>
              <a:gd name="adj" fmla="val 8099"/>
            </a:avLst>
          </a:prstGeom>
          <a:solidFill>
            <a:schemeClr val="bg1"/>
          </a:solidFill>
          <a:ln w="6350">
            <a:solidFill>
              <a:schemeClr val="accent6"/>
            </a:solidFill>
            <a:prstDash val="solid"/>
          </a:ln>
        </p:spPr>
      </p:sp>
      <p:sp>
        <p:nvSpPr>
          <p:cNvPr id="9" name="Text: RHYTHM"/>
          <p:cNvSpPr txBox="1"/>
          <p:nvPr/>
        </p:nvSpPr>
        <p:spPr>
          <a:xfrm>
            <a:off x="7598938" y="928299"/>
            <a:ext cx="405326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RHYTHM</a:t>
            </a:r>
            <a:endParaRPr lang="en-US" sz="1200" dirty="0"/>
          </a:p>
        </p:txBody>
      </p:sp>
      <p:sp>
        <p:nvSpPr>
          <p:cNvPr id="10" name="Text: Decisions happen in the app, not in meet"/>
          <p:cNvSpPr txBox="1"/>
          <p:nvPr/>
        </p:nvSpPr>
        <p:spPr>
          <a:xfrm>
            <a:off x="7598938" y="1149218"/>
            <a:ext cx="4053261" cy="792145"/>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Decisions happen in the app, not in meetings</a:t>
            </a:r>
            <a:endParaRPr lang="en-US" sz="1200" dirty="0"/>
          </a:p>
          <a:p>
            <a:pPr algn="l" marL="165100" indent="-165100">
              <a:lnSpc>
                <a:spcPts val="1560"/>
              </a:lnSpc>
              <a:buSzPct val="100000"/>
              <a:buChar char="•"/>
            </a:pPr>
            <a:r>
              <a:rPr lang="en-US" sz="1200" dirty="0">
                <a:solidFill>
                  <a:schemeClr val="tx1"/>
                </a:solidFill>
              </a:rPr>
              <a:t>Agents prompt owners and chase what’s overdue</a:t>
            </a:r>
            <a:endParaRPr lang="en-US" sz="1200" dirty="0"/>
          </a:p>
          <a:p>
            <a:pPr algn="l" marL="165100" indent="-165100">
              <a:lnSpc>
                <a:spcPts val="1560"/>
              </a:lnSpc>
              <a:buSzPct val="100000"/>
              <a:buChar char="•"/>
            </a:pPr>
            <a:r>
              <a:rPr lang="en-US" sz="1200" dirty="0">
                <a:solidFill>
                  <a:schemeClr val="tx1"/>
                </a:solidFill>
              </a:rPr>
              <a:t>Owner review: monthly at first, then quarterly</a:t>
            </a:r>
            <a:endParaRPr lang="en-US" sz="1200" dirty="0"/>
          </a:p>
          <a:p>
            <a:pPr algn="l" marL="165100" indent="-165100">
              <a:lnSpc>
                <a:spcPts val="1560"/>
              </a:lnSpc>
              <a:buSzPct val="100000"/>
              <a:buChar char="•"/>
            </a:pPr>
            <a:r>
              <a:rPr lang="en-US" sz="1200" dirty="0">
                <a:solidFill>
                  <a:schemeClr val="tx1"/>
                </a:solidFill>
              </a:rPr>
              <a:t>Quarterly scorecard to the executive team</a:t>
            </a:r>
            <a:endParaRPr lang="en-US" sz="1200" dirty="0"/>
          </a:p>
        </p:txBody>
      </p:sp>
      <p:graphicFrame>
        <p:nvGraphicFramePr>
          <p:cNvPr id="5" name="Table: who does what"/>
          <p:cNvGraphicFramePr>
            <a:graphicFrameLocks noGrp="1"/>
          </p:cNvGraphicFramePr>
          <p:nvPr>
            <p:extLst>
              <p:ext uri="{D42A27DB-BD31-4B8C-83A1-F6EECF244321}">
                <p14:modId xmlns:p14="http://schemas.microsoft.com/office/powerpoint/2010/main" val="1579011935"/>
              </p:ext>
            </p:extLst>
          </p:nvPr>
        </p:nvGraphicFramePr>
        <p:xfrm>
          <a:off x="406359" y="2176363"/>
          <a:ext cx="11379159" cy="914400"/>
        </p:xfrm>
        <a:graphic>
          <a:graphicData uri="http://schemas.openxmlformats.org/drawingml/2006/table">
            <a:tbl>
              <a:tblPr/>
              <a:tblGrid>
                <a:gridCol w="2047067"/>
                <a:gridCol w="3980566"/>
                <a:gridCol w="796077"/>
                <a:gridCol w="1250991"/>
                <a:gridCol w="909737"/>
                <a:gridCol w="1250991"/>
                <a:gridCol w="1137514"/>
              </a:tblGrid>
              <a:tr h="326258">
                <a:tc>
                  <a:txBody>
                    <a:bodyPr/>
                    <a:lstStyle/>
                    <a:p>
                      <a:pPr algn="l" indent="0" marL="0">
                        <a:buNone/>
                      </a:pPr>
                      <a:r>
                        <a:rPr lang="en-US" sz="1200" b="1" dirty="0">
                          <a:solidFill>
                            <a:schemeClr val="bg1"/>
                          </a:solidFill>
                        </a:rPr>
                        <a:t>Activity</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Covers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GPDO</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Attribute owner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Data team</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Platform owner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How often</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326258">
                <a:tc>
                  <a:txBody>
                    <a:bodyPr/>
                    <a:lstStyle/>
                    <a:p>
                      <a:pPr algn="l" indent="0" marL="0">
                        <a:buNone/>
                      </a:pPr>
                      <a:r>
                        <a:rPr lang="en-US" sz="1200" dirty="0">
                          <a:solidFill>
                            <a:schemeClr val="tx2"/>
                          </a:solidFill>
                        </a:rPr>
                        <a:t>Set up the domain</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5"/>
                          </a:solidFill>
                        </a:rPr>
                        <a:t>Breakdown, owners, conventions, shared data</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A/R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C</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C</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I</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On change</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26258">
                <a:tc>
                  <a:txBody>
                    <a:bodyPr/>
                    <a:lstStyle/>
                    <a:p>
                      <a:pPr algn="l" indent="0" marL="0">
                        <a:buNone/>
                      </a:pPr>
                      <a:r>
                        <a:rPr lang="en-US" sz="1200" dirty="0">
                          <a:solidFill>
                            <a:schemeClr val="tx2"/>
                          </a:solidFill>
                        </a:rPr>
                        <a:t>Set each part’s settings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5"/>
                          </a:solidFill>
                        </a:rPr>
                        <a:t>Checks, automatic approvals, exceptions, mass changes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I</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A/R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C</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As needed</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26258">
                <a:tc>
                  <a:txBody>
                    <a:bodyPr/>
                    <a:lstStyle/>
                    <a:p>
                      <a:pPr algn="l" indent="0" marL="0">
                        <a:buNone/>
                      </a:pPr>
                      <a:r>
                        <a:rPr lang="en-US" sz="1200" dirty="0">
                          <a:solidFill>
                            <a:schemeClr val="tx2"/>
                          </a:solidFill>
                        </a:rPr>
                        <a:t>Control access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5"/>
                          </a:solidFill>
                        </a:rPr>
                        <a:t>Who sees classified data; access reviews; extracts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A/R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2"/>
                          </a:solidFill>
                        </a:rPr>
                        <a:t>[Twice a year]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26258">
                <a:tc>
                  <a:txBody>
                    <a:bodyPr/>
                    <a:lstStyle/>
                    <a:p>
                      <a:pPr algn="l" indent="0" marL="0">
                        <a:buNone/>
                      </a:pPr>
                      <a:r>
                        <a:rPr lang="en-US" sz="1200" dirty="0">
                          <a:solidFill>
                            <a:schemeClr val="tx2"/>
                          </a:solidFill>
                        </a:rPr>
                        <a:t>Decide daily cases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c>
                  <a:txBody>
                    <a:bodyPr/>
                    <a:lstStyle/>
                    <a:p>
                      <a:pPr algn="l" indent="0" marL="0">
                        <a:buNone/>
                      </a:pPr>
                      <a:r>
                        <a:rPr lang="en-US" sz="1200" dirty="0">
                          <a:solidFill>
                            <a:schemeClr val="accent5"/>
                          </a:solidFill>
                        </a:rPr>
                        <a:t>Sensitive changes, duplicates, what the app can’t; samples</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accent5"/>
                          </a:solidFill>
                        </a:rPr>
                        <a: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accent1"/>
                          </a:solidFill>
                        </a:rPr>
                        <a:t>A/R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accent5"/>
                          </a:solidFill>
                        </a:rPr>
                        <a: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accent5"/>
                          </a:solidFill>
                        </a:rPr>
                        <a: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c>
                  <a:txBody>
                    <a:bodyPr/>
                    <a:lstStyle/>
                    <a:p>
                      <a:pPr algn="l" indent="0" marL="0">
                        <a:buNone/>
                      </a:pPr>
                      <a:r>
                        <a:rPr lang="en-US" sz="1200" dirty="0">
                          <a:solidFill>
                            <a:schemeClr val="tx1"/>
                          </a:solidFill>
                        </a:rPr>
                        <a:t>Daily</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3"/>
                    </a:solidFill>
                  </a:tcPr>
                </a:tc>
              </a:tr>
              <a:tr h="326258">
                <a:tc>
                  <a:txBody>
                    <a:bodyPr/>
                    <a:lstStyle/>
                    <a:p>
                      <a:pPr algn="l" indent="0" marL="0">
                        <a:buNone/>
                      </a:pPr>
                      <a:r>
                        <a:rPr lang="en-US" sz="1200" dirty="0">
                          <a:solidFill>
                            <a:schemeClr val="tx2"/>
                          </a:solidFill>
                        </a:rPr>
                        <a:t>Build and run the platform</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5"/>
                          </a:solidFill>
                        </a:rPr>
                        <a:t>App, data platform and agents; agent supervision</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I</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I</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A</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Ongoing</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26258">
                <a:tc>
                  <a:txBody>
                    <a:bodyPr/>
                    <a:lstStyle/>
                    <a:p>
                      <a:pPr algn="l" indent="0" marL="0">
                        <a:buNone/>
                      </a:pPr>
                      <a:r>
                        <a:rPr lang="en-US" sz="1200" dirty="0">
                          <a:solidFill>
                            <a:schemeClr val="tx2"/>
                          </a:solidFill>
                        </a:rPr>
                        <a:t>Keep the framework current</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5"/>
                          </a:solidFill>
                        </a:rPr>
                        <a:t>Rulebook, operating model and controls catalogue</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C</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C</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R</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rPr>
                        <a:t>A</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On change</a:t>
                      </a:r>
                      <a:endParaRPr lang="en-US" sz="1200" dirty="0"/>
                    </a:p>
                  </a:txBody>
                  <a:tcPr marL="91440" marR="91440" marT="53340" marB="5334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12" name="Text: R responsible · A accountable · C consul"/>
          <p:cNvSpPr txBox="1"/>
          <p:nvPr/>
        </p:nvSpPr>
        <p:spPr>
          <a:xfrm>
            <a:off x="406359" y="4580595"/>
            <a:ext cx="11417290" cy="396118"/>
          </a:xfrm>
          <a:prstGeom prst="rect">
            <a:avLst/>
          </a:prstGeom>
          <a:noFill/>
          <a:ln/>
        </p:spPr>
        <p:txBody>
          <a:bodyPr wrap="square" lIns="0" tIns="0" rIns="0" bIns="0" rtlCol="0" anchor="t"/>
          <a:lstStyle/>
          <a:p>
            <a:pPr algn="l" indent="0" marL="0">
              <a:lnSpc>
                <a:spcPts val="1560"/>
              </a:lnSpc>
              <a:buNone/>
            </a:pPr>
            <a:r>
              <a:rPr lang="en-US" sz="1200" b="1" dirty="0">
                <a:solidFill>
                  <a:schemeClr val="accent5"/>
                </a:solidFill>
              </a:rPr>
              <a:t>R</a:t>
            </a:r>
            <a:pPr algn="l" indent="0" marL="0">
              <a:lnSpc>
                <a:spcPts val="1560"/>
              </a:lnSpc>
              <a:buNone/>
            </a:pPr>
            <a:r>
              <a:rPr lang="en-US" sz="1200" dirty="0">
                <a:solidFill>
                  <a:schemeClr val="accent5"/>
                </a:solidFill>
              </a:rPr>
              <a:t> responsible · </a:t>
            </a:r>
            <a:pPr algn="l" indent="0" marL="0">
              <a:lnSpc>
                <a:spcPts val="1560"/>
              </a:lnSpc>
              <a:buNone/>
            </a:pPr>
            <a:r>
              <a:rPr lang="en-US" sz="1200" b="1" dirty="0">
                <a:solidFill>
                  <a:schemeClr val="accent5"/>
                </a:solidFill>
              </a:rPr>
              <a:t>A</a:t>
            </a:r>
            <a:pPr algn="l" indent="0" marL="0">
              <a:lnSpc>
                <a:spcPts val="1560"/>
              </a:lnSpc>
              <a:buNone/>
            </a:pPr>
            <a:r>
              <a:rPr lang="en-US" sz="1200" dirty="0">
                <a:solidFill>
                  <a:schemeClr val="accent5"/>
                </a:solidFill>
              </a:rPr>
              <a:t> accountable · </a:t>
            </a:r>
            <a:pPr algn="l" indent="0" marL="0">
              <a:lnSpc>
                <a:spcPts val="1560"/>
              </a:lnSpc>
              <a:buNone/>
            </a:pPr>
            <a:r>
              <a:rPr lang="en-US" sz="1200" b="1" dirty="0">
                <a:solidFill>
                  <a:schemeClr val="accent5"/>
                </a:solidFill>
              </a:rPr>
              <a:t>C</a:t>
            </a:r>
            <a:pPr algn="l" indent="0" marL="0">
              <a:lnSpc>
                <a:spcPts val="1560"/>
              </a:lnSpc>
              <a:buNone/>
            </a:pPr>
            <a:r>
              <a:rPr lang="en-US" sz="1200" dirty="0">
                <a:solidFill>
                  <a:schemeClr val="accent5"/>
                </a:solidFill>
              </a:rPr>
              <a:t> consulted · </a:t>
            </a:r>
            <a:pPr algn="l" indent="0" marL="0">
              <a:lnSpc>
                <a:spcPts val="1560"/>
              </a:lnSpc>
              <a:buNone/>
            </a:pPr>
            <a:r>
              <a:rPr lang="en-US" sz="1200" b="1" dirty="0">
                <a:solidFill>
                  <a:schemeClr val="accent5"/>
                </a:solidFill>
              </a:rPr>
              <a:t>I</a:t>
            </a:r>
            <a:pPr algn="l" indent="0" marL="0">
              <a:lnSpc>
                <a:spcPts val="1560"/>
              </a:lnSpc>
              <a:buNone/>
            </a:pPr>
            <a:r>
              <a:rPr lang="en-US" sz="1200" dirty="0">
                <a:solidFill>
                  <a:schemeClr val="accent5"/>
                </a:solidFill>
              </a:rPr>
              <a:t> informed. The GPDO stays accountable for the whole domain; A is who answers for each decision. Shaded: an attribute owner can hand this to delegates. Agents do much of the work but are never accountable.</a:t>
            </a:r>
            <a:endParaRPr lang="en-US" sz="1200" dirty="0"/>
          </a:p>
        </p:txBody>
      </p:sp>
      <p:sp>
        <p:nvSpPr>
          <p:cNvPr id="13" name="Card 13"/>
          <p:cNvSpPr/>
          <p:nvPr/>
        </p:nvSpPr>
        <p:spPr>
          <a:xfrm>
            <a:off x="406359" y="5091013"/>
            <a:ext cx="11379159" cy="1269644"/>
          </a:xfrm>
          <a:prstGeom prst="roundRect">
            <a:avLst>
              <a:gd name="adj" fmla="val 8002"/>
            </a:avLst>
          </a:prstGeom>
          <a:solidFill>
            <a:schemeClr val="bg1"/>
          </a:solidFill>
          <a:ln w="6350">
            <a:solidFill>
              <a:schemeClr val="accent6"/>
            </a:solidFill>
            <a:prstDash val="solid"/>
          </a:ln>
        </p:spPr>
      </p:sp>
      <p:sp>
        <p:nvSpPr>
          <p:cNvPr id="14" name="Text: MEASURES"/>
          <p:cNvSpPr txBox="1"/>
          <p:nvPr/>
        </p:nvSpPr>
        <p:spPr>
          <a:xfrm>
            <a:off x="577809" y="5219212"/>
            <a:ext cx="84335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MEASURES</a:t>
            </a:r>
            <a:endParaRPr lang="en-US" sz="1200" dirty="0"/>
          </a:p>
        </p:txBody>
      </p:sp>
      <p:sp>
        <p:nvSpPr>
          <p:cNvPr id="15" name="Text: Targets: [to set] after a month’s baseli"/>
          <p:cNvSpPr txBox="1"/>
          <p:nvPr/>
        </p:nvSpPr>
        <p:spPr>
          <a:xfrm>
            <a:off x="9098737" y="5211623"/>
            <a:ext cx="2553462"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Targets: </a:t>
            </a:r>
            <a:pPr algn="l" indent="0" marL="0">
              <a:lnSpc>
                <a:spcPts val="1560"/>
              </a:lnSpc>
              <a:buNone/>
            </a:pPr>
            <a:r>
              <a:rPr lang="en-US" sz="1200" dirty="0">
                <a:solidFill>
                  <a:schemeClr val="accent2"/>
                </a:solidFill>
              </a:rPr>
              <a:t>[to set]</a:t>
            </a:r>
            <a:pPr algn="l" indent="0" marL="0">
              <a:lnSpc>
                <a:spcPts val="1560"/>
              </a:lnSpc>
              <a:buNone/>
            </a:pPr>
            <a:r>
              <a:rPr lang="en-US" sz="1200" dirty="0">
                <a:solidFill>
                  <a:schemeClr val="accent5"/>
                </a:solidFill>
              </a:rPr>
              <a:t> after a month’s baseline</a:t>
            </a:r>
            <a:endParaRPr lang="en-US" sz="1200" dirty="0"/>
          </a:p>
        </p:txBody>
      </p:sp>
      <p:sp>
        <p:nvSpPr>
          <p:cNvPr id="16" name="Text: Requests the app approves alone People’s"/>
          <p:cNvSpPr txBox="1"/>
          <p:nvPr/>
        </p:nvSpPr>
        <p:spPr>
          <a:xfrm>
            <a:off x="577809" y="5447812"/>
            <a:ext cx="5372100" cy="792145"/>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Requests the app approves alone</a:t>
            </a:r>
            <a:endParaRPr lang="en-US" sz="1200" dirty="0"/>
          </a:p>
          <a:p>
            <a:pPr algn="l" marL="165100" indent="-165100">
              <a:lnSpc>
                <a:spcPts val="1560"/>
              </a:lnSpc>
              <a:buSzPct val="100000"/>
              <a:buChar char="•"/>
            </a:pPr>
            <a:r>
              <a:rPr lang="en-US" sz="1200" dirty="0">
                <a:solidFill>
                  <a:schemeClr val="tx1"/>
                </a:solidFill>
              </a:rPr>
              <a:t>People’s decisions, and how long they take</a:t>
            </a:r>
            <a:endParaRPr lang="en-US" sz="1200" dirty="0"/>
          </a:p>
          <a:p>
            <a:pPr algn="l" marL="165100" indent="-165100">
              <a:lnSpc>
                <a:spcPts val="1560"/>
              </a:lnSpc>
              <a:buSzPct val="100000"/>
              <a:buChar char="•"/>
            </a:pPr>
            <a:r>
              <a:rPr lang="en-US" sz="1200" dirty="0">
                <a:solidFill>
                  <a:schemeClr val="tx1"/>
                </a:solidFill>
              </a:rPr>
              <a:t>Time from request to use; first-time-right</a:t>
            </a:r>
            <a:endParaRPr lang="en-US" sz="1200" dirty="0"/>
          </a:p>
          <a:p>
            <a:pPr algn="l" marL="165100" indent="-165100">
              <a:lnSpc>
                <a:spcPts val="1560"/>
              </a:lnSpc>
              <a:buSzPct val="100000"/>
              <a:buChar char="•"/>
            </a:pPr>
            <a:r>
              <a:rPr lang="en-US" sz="1200" dirty="0">
                <a:solidFill>
                  <a:schemeClr val="tx1"/>
                </a:solidFill>
              </a:rPr>
              <a:t>Records passing their checks</a:t>
            </a:r>
            <a:endParaRPr lang="en-US" sz="1200" dirty="0"/>
          </a:p>
        </p:txBody>
      </p:sp>
      <p:sp>
        <p:nvSpPr>
          <p:cNvPr id="17" name="Text: Duplicates; SAP and non-SAP differences "/>
          <p:cNvSpPr txBox="1"/>
          <p:nvPr/>
        </p:nvSpPr>
        <p:spPr>
          <a:xfrm>
            <a:off x="6280191" y="5447812"/>
            <a:ext cx="5372100" cy="792145"/>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Duplicates; SAP and non-SAP differences</a:t>
            </a:r>
            <a:endParaRPr lang="en-US" sz="1200" dirty="0"/>
          </a:p>
          <a:p>
            <a:pPr algn="l" marL="165100" indent="-165100">
              <a:lnSpc>
                <a:spcPts val="1560"/>
              </a:lnSpc>
              <a:buSzPct val="100000"/>
              <a:buChar char="•"/>
            </a:pPr>
            <a:r>
              <a:rPr lang="en-US" sz="1200" dirty="0">
                <a:solidFill>
                  <a:schemeClr val="tx1"/>
                </a:solidFill>
              </a:rPr>
              <a:t>Downstream issues traced to master data</a:t>
            </a:r>
            <a:endParaRPr lang="en-US" sz="1200" dirty="0"/>
          </a:p>
          <a:p>
            <a:pPr algn="l" marL="165100" indent="-165100">
              <a:lnSpc>
                <a:spcPts val="1560"/>
              </a:lnSpc>
              <a:buSzPct val="100000"/>
              <a:buChar char="•"/>
            </a:pPr>
            <a:r>
              <a:rPr lang="en-US" sz="1200" dirty="0">
                <a:solidFill>
                  <a:schemeClr val="tx1"/>
                </a:solidFill>
              </a:rPr>
              <a:t>Changes without an approved request</a:t>
            </a:r>
            <a:endParaRPr lang="en-US" sz="1200" dirty="0"/>
          </a:p>
          <a:p>
            <a:pPr algn="l" marL="165100" indent="-165100">
              <a:lnSpc>
                <a:spcPts val="1560"/>
              </a:lnSpc>
              <a:buSzPct val="100000"/>
              <a:buChar char="•"/>
            </a:pPr>
            <a:r>
              <a:rPr lang="en-US" sz="1200" dirty="0">
                <a:solidFill>
                  <a:schemeClr val="tx1"/>
                </a:solidFill>
              </a:rPr>
              <a:t>Agents: work, acceptance and review time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06359" y="330190"/>
            <a:ext cx="8889980" cy="363108"/>
          </a:xfrm>
          <a:prstGeom prst="rect">
            <a:avLst/>
          </a:prstGeom>
          <a:noFill/>
          <a:ln/>
        </p:spPr>
        <p:txBody>
          <a:bodyPr wrap="square" lIns="0" tIns="0" rIns="0" bIns="0" rtlCol="0" anchor="ctr"/>
          <a:lstStyle/>
          <a:p>
            <a:pPr algn="l" indent="0" marL="0">
              <a:buNone/>
            </a:pPr>
            <a:r>
              <a:rPr lang="en-US" sz="2600" b="1" dirty="0">
                <a:solidFill>
                  <a:schemeClr val="tx2"/>
                </a:solidFill>
              </a:rPr>
              <a:t>Operating model: platform and agents</a:t>
            </a:r>
            <a:endParaRPr lang="en-US" sz="2600" dirty="0"/>
          </a:p>
        </p:txBody>
      </p:sp>
      <p:sp>
        <p:nvSpPr>
          <p:cNvPr id="3" name="Card 2"/>
          <p:cNvSpPr/>
          <p:nvPr/>
        </p:nvSpPr>
        <p:spPr>
          <a:xfrm>
            <a:off x="6197163" y="387340"/>
            <a:ext cx="711769" cy="248808"/>
          </a:xfrm>
          <a:prstGeom prst="roundRect">
            <a:avLst>
              <a:gd name="adj" fmla="val 50007"/>
            </a:avLst>
          </a:prstGeom>
          <a:solidFill>
            <a:schemeClr val="accent2"/>
          </a:solidFill>
          <a:ln/>
        </p:spPr>
      </p:sp>
      <p:sp>
        <p:nvSpPr>
          <p:cNvPr id="4" name="Text: DRAFT"/>
          <p:cNvSpPr txBox="1"/>
          <p:nvPr/>
        </p:nvSpPr>
        <p:spPr>
          <a:xfrm>
            <a:off x="6311463" y="412760"/>
            <a:ext cx="483169" cy="198059"/>
          </a:xfrm>
          <a:prstGeom prst="rect">
            <a:avLst/>
          </a:prstGeom>
          <a:noFill/>
          <a:ln/>
        </p:spPr>
        <p:txBody>
          <a:bodyPr wrap="square" lIns="0" tIns="0" rIns="0" bIns="0" rtlCol="0" anchor="ctr"/>
          <a:lstStyle/>
          <a:p>
            <a:pPr algn="ctr" indent="0" marL="0">
              <a:lnSpc>
                <a:spcPts val="1560"/>
              </a:lnSpc>
              <a:buNone/>
            </a:pPr>
            <a:r>
              <a:rPr lang="en-US" sz="1200" b="1" spc="100" kern="0" dirty="0">
                <a:solidFill>
                  <a:schemeClr val="bg1"/>
                </a:solidFill>
              </a:rPr>
              <a:t>DRAFT</a:t>
            </a:r>
            <a:endParaRPr lang="en-US" sz="1200" dirty="0"/>
          </a:p>
        </p:txBody>
      </p:sp>
      <p:sp>
        <p:nvSpPr>
          <p:cNvPr id="5" name="Card 5"/>
          <p:cNvSpPr/>
          <p:nvPr/>
        </p:nvSpPr>
        <p:spPr>
          <a:xfrm>
            <a:off x="406359" y="807598"/>
            <a:ext cx="6881409" cy="1650492"/>
          </a:xfrm>
          <a:prstGeom prst="roundRect">
            <a:avLst>
              <a:gd name="adj" fmla="val 6156"/>
            </a:avLst>
          </a:prstGeom>
          <a:solidFill>
            <a:schemeClr val="tx2"/>
          </a:solidFill>
          <a:ln/>
        </p:spPr>
      </p:sp>
      <p:sp>
        <p:nvSpPr>
          <p:cNvPr id="6" name="Text: THE SPLIT"/>
          <p:cNvSpPr txBox="1"/>
          <p:nvPr/>
        </p:nvSpPr>
        <p:spPr>
          <a:xfrm>
            <a:off x="634959" y="1255746"/>
            <a:ext cx="6462339"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4"/>
                </a:solidFill>
              </a:rPr>
              <a:t>THE SPLIT</a:t>
            </a:r>
            <a:endParaRPr lang="en-US" sz="1200" dirty="0"/>
          </a:p>
        </p:txBody>
      </p:sp>
      <p:sp>
        <p:nvSpPr>
          <p:cNvPr id="7" name="Text: A check with a fixed answer belongs in t"/>
          <p:cNvSpPr txBox="1"/>
          <p:nvPr/>
        </p:nvSpPr>
        <p:spPr>
          <a:xfrm>
            <a:off x="634959" y="1514795"/>
            <a:ext cx="6462339" cy="495330"/>
          </a:xfrm>
          <a:prstGeom prst="rect">
            <a:avLst/>
          </a:prstGeom>
          <a:noFill/>
          <a:ln/>
        </p:spPr>
        <p:txBody>
          <a:bodyPr wrap="square" lIns="0" tIns="0" rIns="0" bIns="0" rtlCol="0" anchor="t"/>
          <a:lstStyle/>
          <a:p>
            <a:pPr algn="l" indent="0" marL="0">
              <a:lnSpc>
                <a:spcPts val="1950"/>
              </a:lnSpc>
              <a:buNone/>
            </a:pPr>
            <a:r>
              <a:rPr lang="en-US" sz="1500" dirty="0">
                <a:solidFill>
                  <a:schemeClr val="bg1"/>
                </a:solidFill>
                <a:latin typeface="+mj-lt" pitchFamily="34" charset="0"/>
                <a:ea typeface="+mj-lt" pitchFamily="34" charset="-122"/>
                <a:cs typeface="+mj-lt" pitchFamily="34" charset="-120"/>
              </a:rPr>
              <a:t>A check with a fixed answer belongs in the app. Coordination and routine work go to agents. Decisions stay with people.</a:t>
            </a:r>
            <a:endParaRPr lang="en-US" sz="1500" dirty="0"/>
          </a:p>
        </p:txBody>
      </p:sp>
      <p:sp>
        <p:nvSpPr>
          <p:cNvPr id="8" name="Card 8"/>
          <p:cNvSpPr/>
          <p:nvPr/>
        </p:nvSpPr>
        <p:spPr>
          <a:xfrm>
            <a:off x="7427488" y="807598"/>
            <a:ext cx="4358122" cy="1650492"/>
          </a:xfrm>
          <a:prstGeom prst="roundRect">
            <a:avLst>
              <a:gd name="adj" fmla="val 6156"/>
            </a:avLst>
          </a:prstGeom>
          <a:solidFill>
            <a:schemeClr val="bg1"/>
          </a:solidFill>
          <a:ln w="6350">
            <a:solidFill>
              <a:schemeClr val="accent6"/>
            </a:solidFill>
            <a:prstDash val="solid"/>
          </a:ln>
        </p:spPr>
      </p:sp>
      <p:sp>
        <p:nvSpPr>
          <p:cNvPr id="9" name="Text: AGENT GUARDRAILS"/>
          <p:cNvSpPr txBox="1"/>
          <p:nvPr/>
        </p:nvSpPr>
        <p:spPr>
          <a:xfrm>
            <a:off x="7598938" y="928299"/>
            <a:ext cx="405326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AGENT GUARDRAILS</a:t>
            </a:r>
            <a:endParaRPr lang="en-US" sz="1200" dirty="0"/>
          </a:p>
        </p:txBody>
      </p:sp>
      <p:sp>
        <p:nvSpPr>
          <p:cNvPr id="10" name="Text: Never approve, confirm or grant access N"/>
          <p:cNvSpPr txBox="1"/>
          <p:nvPr/>
        </p:nvSpPr>
        <p:spPr>
          <a:xfrm>
            <a:off x="7598938" y="1149218"/>
            <a:ext cx="4053261" cy="1188263"/>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Never approve, confirm or grant access</a:t>
            </a:r>
            <a:endParaRPr lang="en-US" sz="1200" dirty="0"/>
          </a:p>
          <a:p>
            <a:pPr algn="l" marL="165100" indent="-165100">
              <a:lnSpc>
                <a:spcPts val="1560"/>
              </a:lnSpc>
              <a:buSzPct val="100000"/>
              <a:buChar char="•"/>
            </a:pPr>
            <a:r>
              <a:rPr lang="en-US" sz="1200" dirty="0">
                <a:solidFill>
                  <a:schemeClr val="tx1"/>
                </a:solidFill>
              </a:rPr>
              <a:t>Never delete records or change sensitive fields</a:t>
            </a:r>
            <a:endParaRPr lang="en-US" sz="1200" dirty="0"/>
          </a:p>
          <a:p>
            <a:pPr algn="l" marL="165100" indent="-165100">
              <a:lnSpc>
                <a:spcPts val="1560"/>
              </a:lnSpc>
              <a:buSzPct val="100000"/>
              <a:buChar char="•"/>
            </a:pPr>
            <a:r>
              <a:rPr lang="en-US" sz="1200" dirty="0">
                <a:solidFill>
                  <a:schemeClr val="tx1"/>
                </a:solidFill>
              </a:rPr>
              <a:t>Start by proposing; later, only routine changes owners allow</a:t>
            </a:r>
            <a:endParaRPr lang="en-US" sz="1200" dirty="0"/>
          </a:p>
          <a:p>
            <a:pPr algn="l" marL="165100" indent="-165100">
              <a:lnSpc>
                <a:spcPts val="1560"/>
              </a:lnSpc>
              <a:buSzPct val="100000"/>
              <a:buChar char="•"/>
            </a:pPr>
            <a:r>
              <a:rPr lang="en-US" sz="1200" dirty="0">
                <a:solidFill>
                  <a:schemeClr val="tx1"/>
                </a:solidFill>
              </a:rPr>
              <a:t>A named owner in the data team; every action logged</a:t>
            </a:r>
            <a:endParaRPr lang="en-US" sz="1200" dirty="0"/>
          </a:p>
          <a:p>
            <a:pPr algn="l" marL="165100" indent="-165100">
              <a:lnSpc>
                <a:spcPts val="1560"/>
              </a:lnSpc>
              <a:buSzPct val="100000"/>
              <a:buChar char="•"/>
            </a:pPr>
            <a:r>
              <a:rPr lang="en-US" sz="1200" dirty="0">
                <a:solidFill>
                  <a:schemeClr val="tx1"/>
                </a:solidFill>
              </a:rPr>
              <a:t>AI models approved by the platform owner</a:t>
            </a:r>
            <a:endParaRPr lang="en-US" sz="1200" dirty="0"/>
          </a:p>
          <a:p>
            <a:pPr algn="l" marL="165100" indent="-165100">
              <a:lnSpc>
                <a:spcPts val="1560"/>
              </a:lnSpc>
              <a:buSzPct val="100000"/>
              <a:buChar char="•"/>
            </a:pPr>
            <a:r>
              <a:rPr lang="en-US" sz="1200" dirty="0">
                <a:solidFill>
                  <a:schemeClr val="tx1"/>
                </a:solidFill>
              </a:rPr>
              <a:t>Trade secrets stay in AI the organisation controls</a:t>
            </a:r>
            <a:endParaRPr lang="en-US" sz="1200" dirty="0"/>
          </a:p>
        </p:txBody>
      </p:sp>
      <p:sp>
        <p:nvSpPr>
          <p:cNvPr id="11" name="Text: UNIFIED MASTER DATA APP"/>
          <p:cNvSpPr txBox="1"/>
          <p:nvPr/>
        </p:nvSpPr>
        <p:spPr>
          <a:xfrm>
            <a:off x="406359" y="2572482"/>
            <a:ext cx="359414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UNIFIED MASTER DATA APP</a:t>
            </a:r>
            <a:endParaRPr lang="en-US" sz="1200" dirty="0"/>
          </a:p>
        </p:txBody>
      </p:sp>
      <p:sp>
        <p:nvSpPr>
          <p:cNvPr id="12" name="Card 12"/>
          <p:cNvSpPr/>
          <p:nvPr/>
        </p:nvSpPr>
        <p:spPr>
          <a:xfrm>
            <a:off x="406359" y="2818821"/>
            <a:ext cx="3556010" cy="1404153"/>
          </a:xfrm>
          <a:prstGeom prst="roundRect">
            <a:avLst>
              <a:gd name="adj" fmla="val 5427"/>
            </a:avLst>
          </a:prstGeom>
          <a:solidFill>
            <a:schemeClr val="bg1"/>
          </a:solidFill>
          <a:ln w="6350">
            <a:solidFill>
              <a:schemeClr val="accent6"/>
            </a:solidFill>
            <a:prstDash val="solid"/>
          </a:ln>
        </p:spPr>
      </p:sp>
      <p:sp>
        <p:nvSpPr>
          <p:cNvPr id="13" name="Text: The front door for SAP master data Holds"/>
          <p:cNvSpPr txBox="1"/>
          <p:nvPr/>
        </p:nvSpPr>
        <p:spPr>
          <a:xfrm>
            <a:off x="539770" y="2926720"/>
            <a:ext cx="3327410" cy="1188263"/>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The front door for SAP master data</a:t>
            </a:r>
            <a:endParaRPr lang="en-US" sz="1200" dirty="0"/>
          </a:p>
          <a:p>
            <a:pPr algn="l" marL="165100" indent="-165100">
              <a:lnSpc>
                <a:spcPts val="1560"/>
              </a:lnSpc>
              <a:buSzPct val="100000"/>
              <a:buChar char="•"/>
            </a:pPr>
            <a:r>
              <a:rPr lang="en-US" sz="1200" dirty="0">
                <a:solidFill>
                  <a:schemeClr val="tx1"/>
                </a:solidFill>
              </a:rPr>
              <a:t>Holds each domain’s settings</a:t>
            </a:r>
            <a:endParaRPr lang="en-US" sz="1200" dirty="0"/>
          </a:p>
          <a:p>
            <a:pPr algn="l" marL="165100" indent="-165100">
              <a:lnSpc>
                <a:spcPts val="1560"/>
              </a:lnSpc>
              <a:buSzPct val="100000"/>
              <a:buChar char="•"/>
            </a:pPr>
            <a:r>
              <a:rPr lang="en-US" sz="1200" dirty="0">
                <a:solidFill>
                  <a:schemeClr val="tx1"/>
                </a:solidFill>
              </a:rPr>
              <a:t>Checks every request on entry</a:t>
            </a:r>
            <a:endParaRPr lang="en-US" sz="1200" dirty="0"/>
          </a:p>
          <a:p>
            <a:pPr algn="l" marL="165100" indent="-165100">
              <a:lnSpc>
                <a:spcPts val="1560"/>
              </a:lnSpc>
              <a:buSzPct val="100000"/>
              <a:buChar char="•"/>
            </a:pPr>
            <a:r>
              <a:rPr lang="en-US" sz="1200" dirty="0">
                <a:solidFill>
                  <a:schemeClr val="tx1"/>
                </a:solidFill>
              </a:rPr>
              <a:t>Approves the routine requests owners allow</a:t>
            </a:r>
            <a:endParaRPr lang="en-US" sz="1200" dirty="0"/>
          </a:p>
          <a:p>
            <a:pPr algn="l" marL="165100" indent="-165100">
              <a:lnSpc>
                <a:spcPts val="1560"/>
              </a:lnSpc>
              <a:buSzPct val="100000"/>
              <a:buChar char="•"/>
            </a:pPr>
            <a:r>
              <a:rPr lang="en-US" sz="1200" dirty="0">
                <a:solidFill>
                  <a:schemeClr val="tx1"/>
                </a:solidFill>
              </a:rPr>
              <a:t>Routes the rest; holds sensitive changes</a:t>
            </a:r>
            <a:endParaRPr lang="en-US" sz="1200" dirty="0"/>
          </a:p>
          <a:p>
            <a:pPr algn="l" marL="165100" indent="-165100">
              <a:lnSpc>
                <a:spcPts val="1560"/>
              </a:lnSpc>
              <a:buSzPct val="100000"/>
              <a:buChar char="•"/>
            </a:pPr>
            <a:r>
              <a:rPr lang="en-US" sz="1200" dirty="0">
                <a:solidFill>
                  <a:schemeClr val="tx1"/>
                </a:solidFill>
              </a:rPr>
              <a:t>Records the request behind each change</a:t>
            </a:r>
            <a:endParaRPr lang="en-US" sz="1200" dirty="0"/>
          </a:p>
        </p:txBody>
      </p:sp>
      <p:sp>
        <p:nvSpPr>
          <p:cNvPr id="14" name="Arrow 14"/>
          <p:cNvSpPr/>
          <p:nvPr/>
        </p:nvSpPr>
        <p:spPr>
          <a:xfrm>
            <a:off x="4025920" y="3445276"/>
            <a:ext cx="254020" cy="152430"/>
          </a:xfrm>
          <a:prstGeom prst="rightArrow">
            <a:avLst/>
          </a:prstGeom>
          <a:solidFill>
            <a:schemeClr val="accent1"/>
          </a:solidFill>
          <a:ln/>
        </p:spPr>
      </p:sp>
      <p:sp>
        <p:nvSpPr>
          <p:cNvPr id="15" name="Text: SAP"/>
          <p:cNvSpPr txBox="1"/>
          <p:nvPr/>
        </p:nvSpPr>
        <p:spPr>
          <a:xfrm>
            <a:off x="4343400" y="2572482"/>
            <a:ext cx="3594141"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SAP</a:t>
            </a:r>
            <a:endParaRPr lang="en-US" sz="1200" dirty="0"/>
          </a:p>
        </p:txBody>
      </p:sp>
      <p:sp>
        <p:nvSpPr>
          <p:cNvPr id="16" name="Card 16"/>
          <p:cNvSpPr/>
          <p:nvPr/>
        </p:nvSpPr>
        <p:spPr>
          <a:xfrm>
            <a:off x="4343400" y="2818821"/>
            <a:ext cx="3556010" cy="1404153"/>
          </a:xfrm>
          <a:prstGeom prst="roundRect">
            <a:avLst>
              <a:gd name="adj" fmla="val 5427"/>
            </a:avLst>
          </a:prstGeom>
          <a:solidFill>
            <a:schemeClr val="bg1"/>
          </a:solidFill>
          <a:ln w="6350">
            <a:solidFill>
              <a:schemeClr val="accent6"/>
            </a:solidFill>
            <a:prstDash val="solid"/>
          </a:ln>
        </p:spPr>
      </p:sp>
      <p:sp>
        <p:nvSpPr>
          <p:cNvPr id="17" name="Text: The system of record Changed only by the"/>
          <p:cNvSpPr txBox="1"/>
          <p:nvPr/>
        </p:nvSpPr>
        <p:spPr>
          <a:xfrm>
            <a:off x="4476720" y="2926720"/>
            <a:ext cx="3327410" cy="792145"/>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The system of record</a:t>
            </a:r>
            <a:endParaRPr lang="en-US" sz="1200" dirty="0"/>
          </a:p>
          <a:p>
            <a:pPr algn="l" marL="165100" indent="-165100">
              <a:lnSpc>
                <a:spcPts val="1560"/>
              </a:lnSpc>
              <a:buSzPct val="100000"/>
              <a:buChar char="•"/>
            </a:pPr>
            <a:r>
              <a:rPr lang="en-US" sz="1200" dirty="0">
                <a:solidFill>
                  <a:schemeClr val="tx1"/>
                </a:solidFill>
              </a:rPr>
              <a:t>Changed only by the app, or by a domain’s own process, such as engineering change</a:t>
            </a:r>
            <a:endParaRPr lang="en-US" sz="1200" dirty="0"/>
          </a:p>
          <a:p>
            <a:pPr algn="l" marL="165100" indent="-165100">
              <a:lnSpc>
                <a:spcPts val="1560"/>
              </a:lnSpc>
              <a:buSzPct val="100000"/>
              <a:buChar char="•"/>
            </a:pPr>
            <a:r>
              <a:rPr lang="en-US" sz="1200" dirty="0">
                <a:solidFill>
                  <a:schemeClr val="tx1"/>
                </a:solidFill>
              </a:rPr>
              <a:t>Change documents record every change</a:t>
            </a:r>
            <a:endParaRPr lang="en-US" sz="1200" dirty="0"/>
          </a:p>
        </p:txBody>
      </p:sp>
      <p:sp>
        <p:nvSpPr>
          <p:cNvPr id="18" name="Arrow 18"/>
          <p:cNvSpPr/>
          <p:nvPr/>
        </p:nvSpPr>
        <p:spPr>
          <a:xfrm>
            <a:off x="7962870" y="3445276"/>
            <a:ext cx="254020" cy="152430"/>
          </a:xfrm>
          <a:prstGeom prst="rightArrow">
            <a:avLst/>
          </a:prstGeom>
          <a:solidFill>
            <a:schemeClr val="accent1"/>
          </a:solidFill>
          <a:ln/>
        </p:spPr>
      </p:sp>
      <p:sp>
        <p:nvSpPr>
          <p:cNvPr id="19" name="Text: DATA PLATFORM"/>
          <p:cNvSpPr txBox="1"/>
          <p:nvPr/>
        </p:nvSpPr>
        <p:spPr>
          <a:xfrm>
            <a:off x="8280441" y="2572482"/>
            <a:ext cx="354330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DATA PLATFORM</a:t>
            </a:r>
            <a:endParaRPr lang="en-US" sz="1200" dirty="0"/>
          </a:p>
        </p:txBody>
      </p:sp>
      <p:sp>
        <p:nvSpPr>
          <p:cNvPr id="20" name="Card 20"/>
          <p:cNvSpPr/>
          <p:nvPr/>
        </p:nvSpPr>
        <p:spPr>
          <a:xfrm>
            <a:off x="8280441" y="2818821"/>
            <a:ext cx="3505170" cy="1404153"/>
          </a:xfrm>
          <a:prstGeom prst="roundRect">
            <a:avLst>
              <a:gd name="adj" fmla="val 5427"/>
            </a:avLst>
          </a:prstGeom>
          <a:solidFill>
            <a:schemeClr val="bg1"/>
          </a:solidFill>
          <a:ln w="6350">
            <a:solidFill>
              <a:schemeClr val="accent6"/>
            </a:solidFill>
            <a:prstDash val="solid"/>
          </a:ln>
        </p:spPr>
      </p:sp>
      <p:sp>
        <p:nvSpPr>
          <p:cNvPr id="21" name="Text: Checks stored data and builds the scorec"/>
          <p:cNvSpPr txBox="1"/>
          <p:nvPr/>
        </p:nvSpPr>
        <p:spPr>
          <a:xfrm>
            <a:off x="8413760" y="2926720"/>
            <a:ext cx="3276570" cy="792145"/>
          </a:xfrm>
          <a:prstGeom prst="rect">
            <a:avLst/>
          </a:prstGeom>
          <a:noFill/>
          <a:ln/>
        </p:spPr>
        <p:txBody>
          <a:bodyPr wrap="square" lIns="0" tIns="0" rIns="0" bIns="0" rtlCol="0" anchor="t"/>
          <a:lstStyle/>
          <a:p>
            <a:pPr algn="l" marL="165100" indent="-165100">
              <a:lnSpc>
                <a:spcPts val="1560"/>
              </a:lnSpc>
              <a:buSzPct val="100000"/>
              <a:buChar char="•"/>
            </a:pPr>
            <a:r>
              <a:rPr lang="en-US" sz="1200" dirty="0">
                <a:solidFill>
                  <a:schemeClr val="tx1"/>
                </a:solidFill>
              </a:rPr>
              <a:t>Checks stored data and builds the scorecards</a:t>
            </a:r>
            <a:endParaRPr lang="en-US" sz="1200" dirty="0"/>
          </a:p>
          <a:p>
            <a:pPr algn="l" marL="165100" indent="-165100">
              <a:lnSpc>
                <a:spcPts val="1560"/>
              </a:lnSpc>
              <a:buSzPct val="100000"/>
              <a:buChar char="•"/>
            </a:pPr>
            <a:r>
              <a:rPr lang="en-US" sz="1200" dirty="0">
                <a:solidFill>
                  <a:schemeClr val="tx1"/>
                </a:solidFill>
              </a:rPr>
              <a:t>Compares non-SAP copies with SAP</a:t>
            </a:r>
            <a:endParaRPr lang="en-US" sz="1200" dirty="0"/>
          </a:p>
          <a:p>
            <a:pPr algn="l" marL="165100" indent="-165100">
              <a:lnSpc>
                <a:spcPts val="1560"/>
              </a:lnSpc>
              <a:buSzPct val="100000"/>
              <a:buChar char="•"/>
            </a:pPr>
            <a:r>
              <a:rPr lang="en-US" sz="1200" dirty="0">
                <a:solidFill>
                  <a:schemeClr val="tx1"/>
                </a:solidFill>
              </a:rPr>
              <a:t>Finds changes without a request</a:t>
            </a:r>
            <a:endParaRPr lang="en-US" sz="1200" dirty="0"/>
          </a:p>
          <a:p>
            <a:pPr algn="l" marL="165100" indent="-165100">
              <a:lnSpc>
                <a:spcPts val="1560"/>
              </a:lnSpc>
              <a:buSzPct val="100000"/>
              <a:buChar char="•"/>
            </a:pPr>
            <a:r>
              <a:rPr lang="en-US" sz="1200" dirty="0">
                <a:solidFill>
                  <a:schemeClr val="tx1"/>
                </a:solidFill>
              </a:rPr>
              <a:t>Holds the data agents read</a:t>
            </a:r>
            <a:endParaRPr lang="en-US" sz="1200" dirty="0"/>
          </a:p>
        </p:txBody>
      </p:sp>
      <p:sp>
        <p:nvSpPr>
          <p:cNvPr id="22" name="Text: AI AGENTS"/>
          <p:cNvSpPr txBox="1"/>
          <p:nvPr/>
        </p:nvSpPr>
        <p:spPr>
          <a:xfrm>
            <a:off x="406359" y="4337274"/>
            <a:ext cx="11417290" cy="182880"/>
          </a:xfrm>
          <a:prstGeom prst="rect">
            <a:avLst/>
          </a:prstGeom>
          <a:noFill/>
          <a:ln/>
        </p:spPr>
        <p:txBody>
          <a:bodyPr wrap="square" lIns="0" tIns="0" rIns="0" bIns="0" rtlCol="0" anchor="t"/>
          <a:lstStyle/>
          <a:p>
            <a:pPr algn="l" indent="0" marL="0">
              <a:lnSpc>
                <a:spcPts val="1440"/>
              </a:lnSpc>
              <a:buNone/>
            </a:pPr>
            <a:r>
              <a:rPr lang="en-US" sz="1200" b="1" spc="100" kern="0" dirty="0">
                <a:solidFill>
                  <a:schemeClr val="accent1"/>
                </a:solidFill>
              </a:rPr>
              <a:t>AI AGENTS</a:t>
            </a:r>
            <a:endParaRPr lang="en-US" sz="1200" dirty="0"/>
          </a:p>
        </p:txBody>
      </p:sp>
      <p:sp>
        <p:nvSpPr>
          <p:cNvPr id="23" name="Card edge 23"/>
          <p:cNvSpPr/>
          <p:nvPr/>
        </p:nvSpPr>
        <p:spPr>
          <a:xfrm>
            <a:off x="406359" y="4583613"/>
            <a:ext cx="2184410" cy="1442283"/>
          </a:xfrm>
          <a:prstGeom prst="roundRect">
            <a:avLst>
              <a:gd name="adj" fmla="val 5283"/>
            </a:avLst>
          </a:prstGeom>
          <a:solidFill>
            <a:schemeClr val="accent1"/>
          </a:solidFill>
          <a:ln/>
        </p:spPr>
      </p:sp>
      <p:sp>
        <p:nvSpPr>
          <p:cNvPr id="24" name="Card 23"/>
          <p:cNvSpPr/>
          <p:nvPr/>
        </p:nvSpPr>
        <p:spPr>
          <a:xfrm>
            <a:off x="444490" y="4583613"/>
            <a:ext cx="2146280" cy="1442283"/>
          </a:xfrm>
          <a:prstGeom prst="roundRect">
            <a:avLst>
              <a:gd name="adj" fmla="val 5283"/>
            </a:avLst>
          </a:prstGeom>
          <a:solidFill>
            <a:schemeClr val="accent3"/>
          </a:solidFill>
          <a:ln/>
        </p:spPr>
      </p:sp>
      <p:sp>
        <p:nvSpPr>
          <p:cNvPr id="25" name="Text: Request assistant"/>
          <p:cNvSpPr txBox="1"/>
          <p:nvPr/>
        </p:nvSpPr>
        <p:spPr>
          <a:xfrm>
            <a:off x="571500" y="4685203"/>
            <a:ext cx="19303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Request assistant</a:t>
            </a:r>
            <a:endParaRPr lang="en-US" sz="1200" dirty="0"/>
          </a:p>
        </p:txBody>
      </p:sp>
      <p:sp>
        <p:nvSpPr>
          <p:cNvPr id="26" name="Text: For requesters"/>
          <p:cNvSpPr txBox="1"/>
          <p:nvPr/>
        </p:nvSpPr>
        <p:spPr>
          <a:xfrm>
            <a:off x="571500" y="4908682"/>
            <a:ext cx="1930390"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For requesters</a:t>
            </a:r>
            <a:endParaRPr lang="en-US" sz="1200" dirty="0"/>
          </a:p>
        </p:txBody>
      </p:sp>
      <p:sp>
        <p:nvSpPr>
          <p:cNvPr id="27" name="Text: Pre-fills requests, explains failed chec"/>
          <p:cNvSpPr txBox="1"/>
          <p:nvPr/>
        </p:nvSpPr>
        <p:spPr>
          <a:xfrm>
            <a:off x="571500" y="5132070"/>
            <a:ext cx="193039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Pre-fills requests, explains failed checks and flags values that look wrong.</a:t>
            </a:r>
            <a:endParaRPr lang="en-US" sz="1200" dirty="0"/>
          </a:p>
        </p:txBody>
      </p:sp>
      <p:sp>
        <p:nvSpPr>
          <p:cNvPr id="28" name="Card edge 27"/>
          <p:cNvSpPr/>
          <p:nvPr/>
        </p:nvSpPr>
        <p:spPr>
          <a:xfrm>
            <a:off x="2705070" y="4583613"/>
            <a:ext cx="2184410" cy="1442283"/>
          </a:xfrm>
          <a:prstGeom prst="roundRect">
            <a:avLst>
              <a:gd name="adj" fmla="val 5283"/>
            </a:avLst>
          </a:prstGeom>
          <a:solidFill>
            <a:schemeClr val="accent1"/>
          </a:solidFill>
          <a:ln/>
        </p:spPr>
      </p:sp>
      <p:sp>
        <p:nvSpPr>
          <p:cNvPr id="29" name="Card 27"/>
          <p:cNvSpPr/>
          <p:nvPr/>
        </p:nvSpPr>
        <p:spPr>
          <a:xfrm>
            <a:off x="2743200" y="4583613"/>
            <a:ext cx="2146280" cy="1442283"/>
          </a:xfrm>
          <a:prstGeom prst="roundRect">
            <a:avLst>
              <a:gd name="adj" fmla="val 5283"/>
            </a:avLst>
          </a:prstGeom>
          <a:solidFill>
            <a:schemeClr val="accent3"/>
          </a:solidFill>
          <a:ln/>
        </p:spPr>
      </p:sp>
      <p:sp>
        <p:nvSpPr>
          <p:cNvPr id="30" name="Text: Owner assistant"/>
          <p:cNvSpPr txBox="1"/>
          <p:nvPr/>
        </p:nvSpPr>
        <p:spPr>
          <a:xfrm>
            <a:off x="2870210" y="4685203"/>
            <a:ext cx="19303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Owner assistant</a:t>
            </a:r>
            <a:endParaRPr lang="en-US" sz="1200" dirty="0"/>
          </a:p>
        </p:txBody>
      </p:sp>
      <p:sp>
        <p:nvSpPr>
          <p:cNvPr id="31" name="Text: For owners and delegates"/>
          <p:cNvSpPr txBox="1"/>
          <p:nvPr/>
        </p:nvSpPr>
        <p:spPr>
          <a:xfrm>
            <a:off x="2870210" y="4908682"/>
            <a:ext cx="1930390"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For owners and delegates</a:t>
            </a:r>
            <a:endParaRPr lang="en-US" sz="1200" dirty="0"/>
          </a:p>
        </p:txBody>
      </p:sp>
      <p:sp>
        <p:nvSpPr>
          <p:cNvPr id="32" name="Text: Prepares each case and its evidence, and"/>
          <p:cNvSpPr txBox="1"/>
          <p:nvPr/>
        </p:nvSpPr>
        <p:spPr>
          <a:xfrm>
            <a:off x="2870210" y="5132070"/>
            <a:ext cx="193039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Prepares each case and its evidence, and chases what’s overdue.</a:t>
            </a:r>
            <a:endParaRPr lang="en-US" sz="1200" dirty="0"/>
          </a:p>
        </p:txBody>
      </p:sp>
      <p:sp>
        <p:nvSpPr>
          <p:cNvPr id="33" name="Card edge 31"/>
          <p:cNvSpPr/>
          <p:nvPr/>
        </p:nvSpPr>
        <p:spPr>
          <a:xfrm>
            <a:off x="5003780" y="4583613"/>
            <a:ext cx="2184410" cy="1442283"/>
          </a:xfrm>
          <a:prstGeom prst="roundRect">
            <a:avLst>
              <a:gd name="adj" fmla="val 5283"/>
            </a:avLst>
          </a:prstGeom>
          <a:solidFill>
            <a:schemeClr val="accent1"/>
          </a:solidFill>
          <a:ln/>
        </p:spPr>
      </p:sp>
      <p:sp>
        <p:nvSpPr>
          <p:cNvPr id="34" name="Card 31"/>
          <p:cNvSpPr/>
          <p:nvPr/>
        </p:nvSpPr>
        <p:spPr>
          <a:xfrm>
            <a:off x="5041910" y="4583613"/>
            <a:ext cx="2146280" cy="1442283"/>
          </a:xfrm>
          <a:prstGeom prst="roundRect">
            <a:avLst>
              <a:gd name="adj" fmla="val 5283"/>
            </a:avLst>
          </a:prstGeom>
          <a:solidFill>
            <a:schemeClr val="accent3"/>
          </a:solidFill>
          <a:ln/>
        </p:spPr>
      </p:sp>
      <p:sp>
        <p:nvSpPr>
          <p:cNvPr id="35" name="Text: Quality agent"/>
          <p:cNvSpPr txBox="1"/>
          <p:nvPr/>
        </p:nvSpPr>
        <p:spPr>
          <a:xfrm>
            <a:off x="5168920" y="4685203"/>
            <a:ext cx="19303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Quality agent</a:t>
            </a:r>
            <a:endParaRPr lang="en-US" sz="1200" dirty="0"/>
          </a:p>
        </p:txBody>
      </p:sp>
      <p:sp>
        <p:nvSpPr>
          <p:cNvPr id="36" name="Text: For attribute owners"/>
          <p:cNvSpPr txBox="1"/>
          <p:nvPr/>
        </p:nvSpPr>
        <p:spPr>
          <a:xfrm>
            <a:off x="5168920" y="4908682"/>
            <a:ext cx="1930390"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For attribute owners</a:t>
            </a:r>
            <a:endParaRPr lang="en-US" sz="1200" dirty="0"/>
          </a:p>
        </p:txBody>
      </p:sp>
      <p:sp>
        <p:nvSpPr>
          <p:cNvPr id="37" name="Text: Finds duplicates and their causes, raise"/>
          <p:cNvSpPr txBox="1"/>
          <p:nvPr/>
        </p:nvSpPr>
        <p:spPr>
          <a:xfrm>
            <a:off x="5168920" y="5132070"/>
            <a:ext cx="193039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Finds duplicates and their causes, raises fixes and cleans up existing data.</a:t>
            </a:r>
            <a:endParaRPr lang="en-US" sz="1200" dirty="0"/>
          </a:p>
        </p:txBody>
      </p:sp>
      <p:sp>
        <p:nvSpPr>
          <p:cNvPr id="38" name="Card edge 35"/>
          <p:cNvSpPr/>
          <p:nvPr/>
        </p:nvSpPr>
        <p:spPr>
          <a:xfrm>
            <a:off x="7302490" y="4583613"/>
            <a:ext cx="2184410" cy="1442283"/>
          </a:xfrm>
          <a:prstGeom prst="roundRect">
            <a:avLst>
              <a:gd name="adj" fmla="val 5283"/>
            </a:avLst>
          </a:prstGeom>
          <a:solidFill>
            <a:schemeClr val="accent1"/>
          </a:solidFill>
          <a:ln/>
        </p:spPr>
      </p:sp>
      <p:sp>
        <p:nvSpPr>
          <p:cNvPr id="39" name="Card 35"/>
          <p:cNvSpPr/>
          <p:nvPr/>
        </p:nvSpPr>
        <p:spPr>
          <a:xfrm>
            <a:off x="7340620" y="4583613"/>
            <a:ext cx="2146280" cy="1442283"/>
          </a:xfrm>
          <a:prstGeom prst="roundRect">
            <a:avLst>
              <a:gd name="adj" fmla="val 5283"/>
            </a:avLst>
          </a:prstGeom>
          <a:solidFill>
            <a:schemeClr val="accent3"/>
          </a:solidFill>
          <a:ln/>
        </p:spPr>
      </p:sp>
      <p:sp>
        <p:nvSpPr>
          <p:cNvPr id="40" name="Text: Governance coordinator"/>
          <p:cNvSpPr txBox="1"/>
          <p:nvPr/>
        </p:nvSpPr>
        <p:spPr>
          <a:xfrm>
            <a:off x="7467630" y="4685203"/>
            <a:ext cx="19303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Governance coordinator</a:t>
            </a:r>
            <a:endParaRPr lang="en-US" sz="1200" dirty="0"/>
          </a:p>
        </p:txBody>
      </p:sp>
      <p:sp>
        <p:nvSpPr>
          <p:cNvPr id="41" name="Text: For GPDOs and the platform owner"/>
          <p:cNvSpPr txBox="1"/>
          <p:nvPr/>
        </p:nvSpPr>
        <p:spPr>
          <a:xfrm>
            <a:off x="7467630" y="4908682"/>
            <a:ext cx="1930390" cy="396118"/>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For GPDOs and the platform owner</a:t>
            </a:r>
            <a:endParaRPr lang="en-US" sz="1200" dirty="0"/>
          </a:p>
        </p:txBody>
      </p:sp>
      <p:sp>
        <p:nvSpPr>
          <p:cNvPr id="42" name="Text: Prepares the owner review and scorecard;"/>
          <p:cNvSpPr txBox="1"/>
          <p:nvPr/>
        </p:nvSpPr>
        <p:spPr>
          <a:xfrm>
            <a:off x="7467630" y="5330129"/>
            <a:ext cx="193039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Prepares the owner review and scorecard; tracks decisions and exceptions.</a:t>
            </a:r>
            <a:endParaRPr lang="en-US" sz="1200" dirty="0"/>
          </a:p>
        </p:txBody>
      </p:sp>
      <p:sp>
        <p:nvSpPr>
          <p:cNvPr id="43" name="Card edge 39"/>
          <p:cNvSpPr/>
          <p:nvPr/>
        </p:nvSpPr>
        <p:spPr>
          <a:xfrm>
            <a:off x="9601200" y="4583613"/>
            <a:ext cx="2184410" cy="1442283"/>
          </a:xfrm>
          <a:prstGeom prst="roundRect">
            <a:avLst>
              <a:gd name="adj" fmla="val 5283"/>
            </a:avLst>
          </a:prstGeom>
          <a:solidFill>
            <a:schemeClr val="accent1"/>
          </a:solidFill>
          <a:ln/>
        </p:spPr>
      </p:sp>
      <p:sp>
        <p:nvSpPr>
          <p:cNvPr id="44" name="Card 39"/>
          <p:cNvSpPr/>
          <p:nvPr/>
        </p:nvSpPr>
        <p:spPr>
          <a:xfrm>
            <a:off x="9639330" y="4583613"/>
            <a:ext cx="2146280" cy="1442283"/>
          </a:xfrm>
          <a:prstGeom prst="roundRect">
            <a:avLst>
              <a:gd name="adj" fmla="val 5283"/>
            </a:avLst>
          </a:prstGeom>
          <a:solidFill>
            <a:schemeClr val="accent3"/>
          </a:solidFill>
          <a:ln/>
        </p:spPr>
      </p:sp>
      <p:sp>
        <p:nvSpPr>
          <p:cNvPr id="45" name="Text: Change reconciler"/>
          <p:cNvSpPr txBox="1"/>
          <p:nvPr/>
        </p:nvSpPr>
        <p:spPr>
          <a:xfrm>
            <a:off x="9766341" y="4685203"/>
            <a:ext cx="1930390" cy="198059"/>
          </a:xfrm>
          <a:prstGeom prst="rect">
            <a:avLst/>
          </a:prstGeom>
          <a:noFill/>
          <a:ln/>
        </p:spPr>
        <p:txBody>
          <a:bodyPr wrap="square" lIns="0" tIns="0" rIns="0" bIns="0" rtlCol="0" anchor="t"/>
          <a:lstStyle/>
          <a:p>
            <a:pPr algn="l" indent="0" marL="0">
              <a:lnSpc>
                <a:spcPts val="1560"/>
              </a:lnSpc>
              <a:buNone/>
            </a:pPr>
            <a:r>
              <a:rPr lang="en-US" sz="1200" b="1" dirty="0">
                <a:solidFill>
                  <a:schemeClr val="tx2"/>
                </a:solidFill>
              </a:rPr>
              <a:t>Change reconciler</a:t>
            </a:r>
            <a:endParaRPr lang="en-US" sz="1200" dirty="0"/>
          </a:p>
        </p:txBody>
      </p:sp>
      <p:sp>
        <p:nvSpPr>
          <p:cNvPr id="46" name="Text: For internal controls"/>
          <p:cNvSpPr txBox="1"/>
          <p:nvPr/>
        </p:nvSpPr>
        <p:spPr>
          <a:xfrm>
            <a:off x="9766341" y="4908682"/>
            <a:ext cx="1930390" cy="198059"/>
          </a:xfrm>
          <a:prstGeom prst="rect">
            <a:avLst/>
          </a:prstGeom>
          <a:noFill/>
          <a:ln/>
        </p:spPr>
        <p:txBody>
          <a:bodyPr wrap="square" lIns="0" tIns="0" rIns="0" bIns="0" rtlCol="0" anchor="t"/>
          <a:lstStyle/>
          <a:p>
            <a:pPr algn="l" indent="0" marL="0">
              <a:lnSpc>
                <a:spcPts val="1560"/>
              </a:lnSpc>
              <a:buNone/>
            </a:pPr>
            <a:r>
              <a:rPr lang="en-US" sz="1200" dirty="0">
                <a:solidFill>
                  <a:schemeClr val="accent5"/>
                </a:solidFill>
              </a:rPr>
              <a:t>For internal controls</a:t>
            </a:r>
            <a:endParaRPr lang="en-US" sz="1200" dirty="0"/>
          </a:p>
        </p:txBody>
      </p:sp>
      <p:sp>
        <p:nvSpPr>
          <p:cNvPr id="47" name="Text: Matches SAP changes to the requests behi"/>
          <p:cNvSpPr txBox="1"/>
          <p:nvPr/>
        </p:nvSpPr>
        <p:spPr>
          <a:xfrm>
            <a:off x="9766341" y="5132070"/>
            <a:ext cx="1930390" cy="594086"/>
          </a:xfrm>
          <a:prstGeom prst="rect">
            <a:avLst/>
          </a:prstGeom>
          <a:noFill/>
          <a:ln/>
        </p:spPr>
        <p:txBody>
          <a:bodyPr wrap="square" lIns="0" tIns="0" rIns="0" bIns="0" rtlCol="0" anchor="t"/>
          <a:lstStyle/>
          <a:p>
            <a:pPr algn="l" indent="0" marL="0">
              <a:lnSpc>
                <a:spcPts val="1560"/>
              </a:lnSpc>
              <a:buNone/>
            </a:pPr>
            <a:r>
              <a:rPr lang="en-US" sz="1200" dirty="0">
                <a:solidFill>
                  <a:schemeClr val="tx1"/>
                </a:solidFill>
              </a:rPr>
              <a:t>Matches SAP changes to the requests behind them, and reports any without.</a:t>
            </a:r>
            <a:endParaRPr lang="en-US" sz="1200" dirty="0"/>
          </a:p>
        </p:txBody>
      </p:sp>
    </p:spTree>
  </p:cSld>
  <p:clrMapOvr>
    <a:masterClrMapping/>
  </p:clrMapOvr>
</p:sld>
</file>

<file path=ppt/theme/theme1.xml><?xml version="1.0" encoding="utf-8"?>
<a:theme xmlns:a="http://schemas.openxmlformats.org/drawingml/2006/main" name="LEAN Data Governance">
  <a:themeElements>
    <a:clrScheme name="LEAN Data Governance">
      <a:dk1>
        <a:srgbClr val="2D3B4A"/>
      </a:dk1>
      <a:lt1>
        <a:srgbClr val="FCFBF8"/>
      </a:lt1>
      <a:dk2>
        <a:srgbClr val="13263A"/>
      </a:dk2>
      <a:lt2>
        <a:srgbClr val="F4F2EC"/>
      </a:lt2>
      <a:accent1>
        <a:srgbClr val="165A72"/>
      </a:accent1>
      <a:accent2>
        <a:srgbClr val="A84B12"/>
      </a:accent2>
      <a:accent3>
        <a:srgbClr val="E7F0F2"/>
      </a:accent3>
      <a:accent4>
        <a:srgbClr val="8FC7D9"/>
      </a:accent4>
      <a:accent5>
        <a:srgbClr val="5E6874"/>
      </a:accent5>
      <a:accent6>
        <a:srgbClr val="E3DFD5"/>
      </a:accent6>
      <a:hlink>
        <a:srgbClr val="165A72"/>
      </a:hlink>
      <a:folHlink>
        <a:srgbClr val="5E6874"/>
      </a:folHlink>
    </a:clrScheme>
    <a:fontScheme name="LEAN Data Govern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LEAN Data Governance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Data Governance</dc:title>
  <dc:subject>Master data governance framework</dc:subject>
  <dc:creator>LEAN Data Governance</dc:creator>
  <cp:lastModifiedBy>LEAN Data Governance</cp:lastModifiedBy>
  <cp:revision>1</cp:revision>
  <dcterms:created xsi:type="dcterms:W3CDTF">2026-10-26T08:26:36Z</dcterms:created>
  <dcterms:modified xsi:type="dcterms:W3CDTF">2026-10-26T08:26:36Z</dcterms:modified>
</cp:coreProperties>
</file>